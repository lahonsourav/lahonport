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successpointgogamukh.com" TargetMode="Externa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2.png"/><Relationship Id="rId5" Type="http://schemas.openxmlformats.org/officeDocument/2006/relationships/image" Target="../media/image-3-5.png"/><Relationship Id="rId6" Type="http://schemas.openxmlformats.org/officeDocument/2006/relationships/image" Target="../media/image-3-2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2.png"/><Relationship Id="rId4" Type="http://schemas.openxmlformats.org/officeDocument/2006/relationships/image" Target="../media/image-5-2.png"/><Relationship Id="rId5" Type="http://schemas.openxmlformats.org/officeDocument/2006/relationships/image" Target="../media/image-5-2.png"/><Relationship Id="rId6" Type="http://schemas.openxmlformats.org/officeDocument/2006/relationships/image" Target="../media/image-5-2.png"/><Relationship Id="rId7" Type="http://schemas.openxmlformats.org/officeDocument/2006/relationships/image" Target="../media/image-5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3.png"/><Relationship Id="rId5" Type="http://schemas.openxmlformats.org/officeDocument/2006/relationships/image" Target="../media/image-6-3.png"/><Relationship Id="rId6" Type="http://schemas.openxmlformats.org/officeDocument/2006/relationships/image" Target="../media/image-6-3.png"/><Relationship Id="rId7" Type="http://schemas.openxmlformats.org/officeDocument/2006/relationships/image" Target="../media/image-6-3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3.png"/><Relationship Id="rId5" Type="http://schemas.openxmlformats.org/officeDocument/2006/relationships/image" Target="../media/image-10-3.png"/><Relationship Id="rId6" Type="http://schemas.openxmlformats.org/officeDocument/2006/relationships/image" Target="../media/image-10-3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2.png"/><Relationship Id="rId5" Type="http://schemas.openxmlformats.org/officeDocument/2006/relationships/image" Target="../media/image-13-5.png"/><Relationship Id="rId6" Type="http://schemas.openxmlformats.org/officeDocument/2006/relationships/image" Target="../media/image-13-2.png"/><Relationship Id="rId7" Type="http://schemas.openxmlformats.org/officeDocument/2006/relationships/image" Target="../media/image-1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1.png"/><Relationship Id="rId3" Type="http://schemas.openxmlformats.org/officeDocument/2006/relationships/image" Target="../media/image-14-1.png"/><Relationship Id="rId4" Type="http://schemas.openxmlformats.org/officeDocument/2006/relationships/image" Target="../media/image-14-1.png"/><Relationship Id="rId5" Type="http://schemas.openxmlformats.org/officeDocument/2006/relationships/image" Target="../media/image-14-5.png"/><Relationship Id="rId6" Type="http://schemas.openxmlformats.org/officeDocument/2006/relationships/image" Target="../media/image-14-5.png"/><Relationship Id="rId7" Type="http://schemas.openxmlformats.org/officeDocument/2006/relationships/image" Target="../media/image-14-5.png"/><Relationship Id="rId8" Type="http://schemas.openxmlformats.org/officeDocument/2006/relationships/image" Target="../media/image-14-5.png"/><Relationship Id="rId9" Type="http://schemas.openxmlformats.org/officeDocument/2006/relationships/image" Target="../media/image-14-5.png"/><Relationship Id="rId10" Type="http://schemas.openxmlformats.org/officeDocument/2006/relationships/image" Target="../media/image-14-1.png"/><Relationship Id="rId11" Type="http://schemas.openxmlformats.org/officeDocument/2006/relationships/image" Target="../media/image-14-1.png"/><Relationship Id="rId12" Type="http://schemas.openxmlformats.org/officeDocument/2006/relationships/image" Target="../media/image-14-1.png"/><Relationship Id="rId13" Type="http://schemas.openxmlformats.org/officeDocument/2006/relationships/image" Target="../media/image-14-1.pn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tel:+916001098923" TargetMode="External"/><Relationship Id="rId5" Type="http://schemas.openxmlformats.org/officeDocument/2006/relationships/hyperlink" Target="mailto:sourav@lahon.in" TargetMode="External"/><Relationship Id="rId7" Type="http://schemas.openxmlformats.org/officeDocument/2006/relationships/hyperlink" Target="https://lahon.in" TargetMode="External"/><Relationship Id="rId9" Type="http://schemas.openxmlformats.org/officeDocument/2006/relationships/hyperlink" Target="https://www.linkedin.com/in/lahoncs/" TargetMode="External"/><Relationship Id="rId11" Type="http://schemas.openxmlformats.org/officeDocument/2006/relationships/hyperlink" Target="https://github.com/lahonsourav" TargetMode="External"/><Relationship Id="rId12" Type="http://schemas.openxmlformats.org/officeDocument/2006/relationships/hyperlink" Target="https://lahon.in/blog/why-digitalise-your-coaching-business" TargetMode="External"/><Relationship Id="rId13" Type="http://schemas.openxmlformats.org/officeDocument/2006/relationships/hyperlink" Target="https://lahon.in/blog/coaching-center-management-system" TargetMode="External"/><Relationship Id="rId14" Type="http://schemas.openxmlformats.org/officeDocument/2006/relationships/hyperlink" Target="https://lahon.in/blog/building-success-point-gogamukh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image" Target="../media/image-15-3.png"/><Relationship Id="rId6" Type="http://schemas.openxmlformats.org/officeDocument/2006/relationships/image" Target="../media/image-15-4.png"/><Relationship Id="rId8" Type="http://schemas.openxmlformats.org/officeDocument/2006/relationships/image" Target="../media/image-15-5.png"/><Relationship Id="rId10" Type="http://schemas.openxmlformats.org/officeDocument/2006/relationships/image" Target="../media/image-15-6.png"/><Relationship Id="rId15" Type="http://schemas.openxmlformats.org/officeDocument/2006/relationships/slideLayout" Target="../slideLayouts/slideLayout1.xml"/><Relationship Id="rId1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tel:+916001098923" TargetMode="External"/><Relationship Id="rId5" Type="http://schemas.openxmlformats.org/officeDocument/2006/relationships/hyperlink" Target="mailto:sourav@lahon.in" TargetMode="External"/><Relationship Id="rId7" Type="http://schemas.openxmlformats.org/officeDocument/2006/relationships/hyperlink" Target="https://lahon.in" TargetMode="External"/><Relationship Id="rId8" Type="http://schemas.openxmlformats.org/officeDocument/2006/relationships/hyperlink" Target="https://wa.me/916001098923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4" Type="http://schemas.openxmlformats.org/officeDocument/2006/relationships/image" Target="../media/image-16-3.png"/><Relationship Id="rId6" Type="http://schemas.openxmlformats.org/officeDocument/2006/relationships/image" Target="../media/image-16-4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0"/>
            <a:ext cx="5242255" cy="6858000"/>
          </a:xfrm>
          <a:prstGeom prst="rect">
            <a:avLst/>
          </a:prstGeom>
          <a:solidFill>
            <a:srgbClr val="2A3A4D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C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LAHON.IN TECH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554480"/>
            <a:ext cx="594360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your coaching center</a:t>
            </a:r>
            <a:endParaRPr lang="en-US" sz="3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like a business, not a</a:t>
            </a:r>
            <a:endParaRPr lang="en-US" sz="3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WhatsApp group.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4343400"/>
            <a:ext cx="5577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complete website, live-class, and management platform for coaching centers and colleges — built, launched, and supported end to end.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5760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software, built and run personally by Sourav Lahon  ·  lahon.in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306056" y="1179576"/>
            <a:ext cx="4270248" cy="4544568"/>
          </a:xfrm>
          <a:prstGeom prst="roundRect">
            <a:avLst>
              <a:gd name="adj" fmla="val 1713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8">
                <a:alpha val="18000"/>
              </a:srgbClr>
            </a:outerShdw>
          </a:effectLst>
        </p:spPr>
      </p:sp>
      <p:pic>
        <p:nvPicPr>
          <p:cNvPr id="8" name="Image 0" descr="/tmp/claude-0/-home-user/1f2658c4-1c46-56f1-a92d-e272a0c02ab5/scratchpad/pitch-deck/images/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0920" y="1234440"/>
            <a:ext cx="4160520" cy="4434840"/>
          </a:xfrm>
          <a:prstGeom prst="rect">
            <a:avLst/>
          </a:prstGeom>
        </p:spPr>
      </p:pic>
      <p:sp>
        <p:nvSpPr>
          <p:cNvPr id="9" name="Text 6">
            <a:hlinkClick r:id="rId2" tooltip=""/>
          </p:cNvPr>
          <p:cNvSpPr/>
          <p:nvPr/>
        </p:nvSpPr>
        <p:spPr>
          <a:xfrm>
            <a:off x="7360920" y="5806440"/>
            <a:ext cx="4160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u="sng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successpointgogamukh.com — live today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coaching center hits the same wall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Great teaching, invisible operations — growth stalls not because the coaching is bad, but because everything behind it is improvised.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5257800" cy="1874520"/>
          </a:xfrm>
          <a:prstGeom prst="roundRect">
            <a:avLst>
              <a:gd name="adj" fmla="val 4878"/>
            </a:avLst>
          </a:prstGeom>
          <a:solidFill>
            <a:srgbClr val="F6F7F8"/>
          </a:solidFill>
          <a:ln/>
        </p:spPr>
      </p:sp>
      <p:sp>
        <p:nvSpPr>
          <p:cNvPr id="5" name="Shape 3"/>
          <p:cNvSpPr/>
          <p:nvPr/>
        </p:nvSpPr>
        <p:spPr>
          <a:xfrm>
            <a:off x="960120" y="2468880"/>
            <a:ext cx="749808" cy="749808"/>
          </a:xfrm>
          <a:prstGeom prst="ellipse">
            <a:avLst/>
          </a:prstGeom>
          <a:solidFill>
            <a:srgbClr val="1E2A38"/>
          </a:solidFill>
          <a:ln/>
        </p:spPr>
      </p:sp>
      <p:pic>
        <p:nvPicPr>
          <p:cNvPr id="6" name="Image 0" descr="/tmp/claude-0/-home-user/1f2658c4-1c46-56f1-a92d-e272a0c02ab5/scratchpad/pitch-deck/icons/eyeslas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074" y="2648834"/>
            <a:ext cx="389900" cy="3899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74520" y="24414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Invisible online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1874520" y="2862072"/>
            <a:ext cx="3749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Parents comparing institutes on their phone at 10pm never find you, and never call.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263640" y="2148840"/>
            <a:ext cx="5257800" cy="1874520"/>
          </a:xfrm>
          <a:prstGeom prst="roundRect">
            <a:avLst>
              <a:gd name="adj" fmla="val 4878"/>
            </a:avLst>
          </a:prstGeom>
          <a:solidFill>
            <a:srgbClr val="F6F7F8"/>
          </a:solidFill>
          <a:ln/>
        </p:spPr>
      </p:sp>
      <p:sp>
        <p:nvSpPr>
          <p:cNvPr id="10" name="Shape 7"/>
          <p:cNvSpPr/>
          <p:nvPr/>
        </p:nvSpPr>
        <p:spPr>
          <a:xfrm>
            <a:off x="6583680" y="2468880"/>
            <a:ext cx="749808" cy="749808"/>
          </a:xfrm>
          <a:prstGeom prst="ellipse">
            <a:avLst/>
          </a:prstGeom>
          <a:solidFill>
            <a:srgbClr val="1F6F6F"/>
          </a:solidFill>
          <a:ln/>
        </p:spPr>
      </p:sp>
      <p:pic>
        <p:nvPicPr>
          <p:cNvPr id="11" name="Image 1" descr="/tmp/claude-0/-home-user/1f2658c4-1c46-56f1-a92d-e272a0c02ab5/scratchpad/pitch-deck/icons/scatte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634" y="2648834"/>
            <a:ext cx="389900" cy="3899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7498080" y="24414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Classes scattered everywhere</a:t>
            </a:r>
            <a:endParaRPr lang="en-US" sz="1650" dirty="0"/>
          </a:p>
        </p:txBody>
      </p:sp>
      <p:sp>
        <p:nvSpPr>
          <p:cNvPr id="13" name="Text 9"/>
          <p:cNvSpPr/>
          <p:nvPr/>
        </p:nvSpPr>
        <p:spPr>
          <a:xfrm>
            <a:off x="7498080" y="2862072"/>
            <a:ext cx="3749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Zoom link here, a WhatsApp group there, recordings uploaded somewhere else.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640080" y="4206240"/>
            <a:ext cx="5257800" cy="1874520"/>
          </a:xfrm>
          <a:prstGeom prst="roundRect">
            <a:avLst>
              <a:gd name="adj" fmla="val 4878"/>
            </a:avLst>
          </a:prstGeom>
          <a:solidFill>
            <a:srgbClr val="F6F7F8"/>
          </a:solidFill>
          <a:ln/>
        </p:spPr>
      </p:sp>
      <p:sp>
        <p:nvSpPr>
          <p:cNvPr id="15" name="Shape 11"/>
          <p:cNvSpPr/>
          <p:nvPr/>
        </p:nvSpPr>
        <p:spPr>
          <a:xfrm>
            <a:off x="960120" y="4526280"/>
            <a:ext cx="749808" cy="749808"/>
          </a:xfrm>
          <a:prstGeom prst="ellipse">
            <a:avLst/>
          </a:prstGeom>
          <a:solidFill>
            <a:srgbClr val="1E2A38"/>
          </a:solidFill>
          <a:ln/>
        </p:spPr>
      </p:sp>
      <p:pic>
        <p:nvPicPr>
          <p:cNvPr id="16" name="Image 2" descr="/tmp/claude-0/-home-user/1f2658c4-1c46-56f1-a92d-e272a0c02ab5/scratchpad/pitch-deck/icons/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074" y="4706234"/>
            <a:ext cx="389900" cy="38990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74520" y="44988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 eats the whole day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1874520" y="4919472"/>
            <a:ext cx="3749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Enrollments, fee follow-ups, faculty coordination — all tracked by hand, in someone's head.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263640" y="4206240"/>
            <a:ext cx="5257800" cy="1874520"/>
          </a:xfrm>
          <a:prstGeom prst="roundRect">
            <a:avLst>
              <a:gd name="adj" fmla="val 4878"/>
            </a:avLst>
          </a:prstGeom>
          <a:solidFill>
            <a:srgbClr val="F6F7F8"/>
          </a:solidFill>
          <a:ln/>
        </p:spPr>
      </p:sp>
      <p:sp>
        <p:nvSpPr>
          <p:cNvPr id="20" name="Shape 15"/>
          <p:cNvSpPr/>
          <p:nvPr/>
        </p:nvSpPr>
        <p:spPr>
          <a:xfrm>
            <a:off x="6583680" y="4526280"/>
            <a:ext cx="749808" cy="749808"/>
          </a:xfrm>
          <a:prstGeom prst="ellipse">
            <a:avLst/>
          </a:prstGeom>
          <a:solidFill>
            <a:srgbClr val="1F6F6F"/>
          </a:solidFill>
          <a:ln/>
        </p:spPr>
      </p:sp>
      <p:pic>
        <p:nvPicPr>
          <p:cNvPr id="21" name="Image 3" descr="/tmp/claude-0/-home-user/1f2658c4-1c46-56f1-a92d-e272a0c02ab5/scratchpad/pitch-deck/icons/invoi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3634" y="4706234"/>
            <a:ext cx="389900" cy="38990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7498080" y="44988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real record of anything</a:t>
            </a:r>
            <a:endParaRPr lang="en-US" sz="1650" dirty="0"/>
          </a:p>
        </p:txBody>
      </p:sp>
      <p:sp>
        <p:nvSpPr>
          <p:cNvPr id="23" name="Text 17"/>
          <p:cNvSpPr/>
          <p:nvPr/>
        </p:nvSpPr>
        <p:spPr>
          <a:xfrm>
            <a:off x="7498080" y="4919472"/>
            <a:ext cx="3749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see who's actually enrolled, who answered a student's doubt, or who changed a price.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platform. Everything runs through it.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1554480" y="1508760"/>
            <a:ext cx="9052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B9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website that wins admissions, live classes without third-party apps, a dashboard for every role, and a record of everything — one system, not five subscriptions.</a:t>
            </a:r>
            <a:endParaRPr lang="en-US" sz="1350" dirty="0"/>
          </a:p>
        </p:txBody>
      </p:sp>
      <p:sp>
        <p:nvSpPr>
          <p:cNvPr id="4" name="Shape 2"/>
          <p:cNvSpPr/>
          <p:nvPr/>
        </p:nvSpPr>
        <p:spPr>
          <a:xfrm>
            <a:off x="1066648" y="2880360"/>
            <a:ext cx="2148840" cy="2286000"/>
          </a:xfrm>
          <a:prstGeom prst="roundRect">
            <a:avLst>
              <a:gd name="adj" fmla="val 4255"/>
            </a:avLst>
          </a:prstGeom>
          <a:solidFill>
            <a:srgbClr val="2A3A4D"/>
          </a:solidFill>
          <a:ln w="12700">
            <a:solidFill>
              <a:srgbClr val="3A4A5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29588" y="3246120"/>
            <a:ext cx="822960" cy="822960"/>
          </a:xfrm>
          <a:prstGeom prst="ellipse">
            <a:avLst/>
          </a:prstGeom>
          <a:solidFill>
            <a:srgbClr val="F2C230"/>
          </a:solidFill>
          <a:ln/>
        </p:spPr>
      </p:sp>
      <p:pic>
        <p:nvPicPr>
          <p:cNvPr id="6" name="Image 0" descr="/tmp/claude-0/-home-user/1f2658c4-1c46-56f1-a92d-e272a0c02ab5/scratchpad/pitch-deck/icons/gl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30756" y="3447288"/>
            <a:ext cx="420624" cy="42062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66648" y="429768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Website</a:t>
            </a:r>
            <a:endParaRPr lang="en-US" sz="1500" dirty="0"/>
          </a:p>
        </p:txBody>
      </p:sp>
      <p:pic>
        <p:nvPicPr>
          <p:cNvPr id="8" name="Image 1" descr="/tmp/claude-0/-home-user/1f2658c4-1c46-56f1-a92d-e272a0c02ab5/scratchpad/pitch-deck/icons/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1312" y="3840480"/>
            <a:ext cx="256032" cy="256032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3703168" y="2880360"/>
            <a:ext cx="2148840" cy="2286000"/>
          </a:xfrm>
          <a:prstGeom prst="roundRect">
            <a:avLst>
              <a:gd name="adj" fmla="val 4255"/>
            </a:avLst>
          </a:prstGeom>
          <a:solidFill>
            <a:srgbClr val="2A3A4D"/>
          </a:solidFill>
          <a:ln w="12700">
            <a:solidFill>
              <a:srgbClr val="3A4A5D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4366108" y="3246120"/>
            <a:ext cx="822960" cy="822960"/>
          </a:xfrm>
          <a:prstGeom prst="ellipse">
            <a:avLst/>
          </a:prstGeom>
          <a:solidFill>
            <a:srgbClr val="F2C230"/>
          </a:solidFill>
          <a:ln/>
        </p:spPr>
      </p:sp>
      <p:pic>
        <p:nvPicPr>
          <p:cNvPr id="11" name="Image 2" descr="/tmp/claude-0/-home-user/1f2658c4-1c46-56f1-a92d-e272a0c02ab5/scratchpad/pitch-deck/icons/vide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7276" y="3447288"/>
            <a:ext cx="420624" cy="42062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703168" y="429768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Classes</a:t>
            </a:r>
            <a:endParaRPr lang="en-US" sz="1500" dirty="0"/>
          </a:p>
        </p:txBody>
      </p:sp>
      <p:pic>
        <p:nvPicPr>
          <p:cNvPr id="13" name="Image 3" descr="/tmp/claude-0/-home-user/1f2658c4-1c46-56f1-a92d-e272a0c02ab5/scratchpad/pitch-deck/icons/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7832" y="3840480"/>
            <a:ext cx="256032" cy="256032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6339688" y="2880360"/>
            <a:ext cx="2148840" cy="2286000"/>
          </a:xfrm>
          <a:prstGeom prst="roundRect">
            <a:avLst>
              <a:gd name="adj" fmla="val 4255"/>
            </a:avLst>
          </a:prstGeom>
          <a:solidFill>
            <a:srgbClr val="2A3A4D"/>
          </a:solidFill>
          <a:ln w="12700">
            <a:solidFill>
              <a:srgbClr val="3A4A5D"/>
            </a:solidFill>
            <a:prstDash val="solid"/>
          </a:ln>
        </p:spPr>
      </p:sp>
      <p:sp>
        <p:nvSpPr>
          <p:cNvPr id="15" name="Shape 9"/>
          <p:cNvSpPr/>
          <p:nvPr/>
        </p:nvSpPr>
        <p:spPr>
          <a:xfrm>
            <a:off x="7002628" y="3246120"/>
            <a:ext cx="822960" cy="822960"/>
          </a:xfrm>
          <a:prstGeom prst="ellipse">
            <a:avLst/>
          </a:prstGeom>
          <a:solidFill>
            <a:srgbClr val="F2C230"/>
          </a:solidFill>
          <a:ln/>
        </p:spPr>
      </p:sp>
      <p:pic>
        <p:nvPicPr>
          <p:cNvPr id="16" name="Image 4" descr="/tmp/claude-0/-home-user/1f2658c4-1c46-56f1-a92d-e272a0c02ab5/scratchpad/pitch-deck/icons/dashboar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03796" y="3447288"/>
            <a:ext cx="420624" cy="420624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6339688" y="429768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Dashboards</a:t>
            </a:r>
            <a:endParaRPr lang="en-US" sz="1500" dirty="0"/>
          </a:p>
        </p:txBody>
      </p:sp>
      <p:pic>
        <p:nvPicPr>
          <p:cNvPr id="18" name="Image 5" descr="/tmp/claude-0/-home-user/1f2658c4-1c46-56f1-a92d-e272a0c02ab5/scratchpad/pitch-deck/icons/arro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04352" y="3840480"/>
            <a:ext cx="256032" cy="256032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8976208" y="2880360"/>
            <a:ext cx="2148840" cy="2286000"/>
          </a:xfrm>
          <a:prstGeom prst="roundRect">
            <a:avLst>
              <a:gd name="adj" fmla="val 4255"/>
            </a:avLst>
          </a:prstGeom>
          <a:solidFill>
            <a:srgbClr val="2A3A4D"/>
          </a:solidFill>
          <a:ln w="12700">
            <a:solidFill>
              <a:srgbClr val="3A4A5D"/>
            </a:solidFill>
            <a:prstDash val="solid"/>
          </a:ln>
        </p:spPr>
      </p:sp>
      <p:sp>
        <p:nvSpPr>
          <p:cNvPr id="20" name="Shape 12"/>
          <p:cNvSpPr/>
          <p:nvPr/>
        </p:nvSpPr>
        <p:spPr>
          <a:xfrm>
            <a:off x="9639148" y="3246120"/>
            <a:ext cx="822960" cy="822960"/>
          </a:xfrm>
          <a:prstGeom prst="ellipse">
            <a:avLst/>
          </a:prstGeom>
          <a:solidFill>
            <a:srgbClr val="F2C230"/>
          </a:solidFill>
          <a:ln/>
        </p:spPr>
      </p:sp>
      <p:pic>
        <p:nvPicPr>
          <p:cNvPr id="21" name="Image 6" descr="/tmp/claude-0/-home-user/1f2658c4-1c46-56f1-a92d-e272a0c02ab5/scratchpad/pitch-deck/icons/comment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0316" y="3447288"/>
            <a:ext cx="420624" cy="420624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8976208" y="4297680"/>
            <a:ext cx="2148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Communication</a:t>
            </a:r>
            <a:endParaRPr lang="en-US" sz="1500" dirty="0"/>
          </a:p>
        </p:txBody>
      </p:sp>
      <p:sp>
        <p:nvSpPr>
          <p:cNvPr id="23" name="Text 14"/>
          <p:cNvSpPr/>
          <p:nvPr/>
        </p:nvSpPr>
        <p:spPr>
          <a:xfrm>
            <a:off x="640080" y="566928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 that follows is the live platform, in production today.</a:t>
            </a:r>
            <a:endParaRPr lang="en-US" sz="1150" dirty="0"/>
          </a:p>
        </p:txBody>
      </p:sp>
      <p:sp>
        <p:nvSpPr>
          <p:cNvPr id="24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 concept. A real platform, live today.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463040"/>
            <a:ext cx="5120640" cy="4709160"/>
          </a:xfrm>
          <a:prstGeom prst="roundRect">
            <a:avLst>
              <a:gd name="adj" fmla="val 2330"/>
            </a:avLst>
          </a:prstGeom>
          <a:solidFill>
            <a:srgbClr val="F6F7F8"/>
          </a:solidFill>
          <a:ln/>
        </p:spPr>
      </p:sp>
      <p:sp>
        <p:nvSpPr>
          <p:cNvPr id="4" name="Shape 2"/>
          <p:cNvSpPr/>
          <p:nvPr/>
        </p:nvSpPr>
        <p:spPr>
          <a:xfrm>
            <a:off x="1005840" y="1828800"/>
            <a:ext cx="822960" cy="822960"/>
          </a:xfrm>
          <a:prstGeom prst="ellipse">
            <a:avLst/>
          </a:prstGeom>
          <a:solidFill>
            <a:srgbClr val="1F6F6F"/>
          </a:solidFill>
          <a:ln/>
        </p:spPr>
      </p:sp>
      <p:pic>
        <p:nvPicPr>
          <p:cNvPr id="5" name="Image 0" descr="/tmp/claude-0/-home-user/1f2658c4-1c46-56f1-a92d-e272a0c02ab5/scratchpad/pitch-deck/icons/c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0116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05840" y="2788920"/>
            <a:ext cx="4389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Point Gogamukh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005840" y="3246120"/>
            <a:ext cx="4389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Gogamukh, Dhemaji District, Assam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1005840" y="3703320"/>
            <a:ext cx="4389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NEET, JEE, board-exam tuition (Classes IX–XII), and Assam government exam coaching (ADRE, SSC GD, Assam Police). Zero online presence before this platform.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1005840" y="4681728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6F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2240280" y="4727448"/>
            <a:ext cx="3200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dashboards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1005840" y="5120640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6F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2240280" y="5166360"/>
            <a:ext cx="3200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courses live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1005840" y="5559552"/>
            <a:ext cx="11887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6F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240280" y="5605272"/>
            <a:ext cx="320040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enrollments tracked, none on paper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117336" y="1408176"/>
            <a:ext cx="5458968" cy="4818888"/>
          </a:xfrm>
          <a:prstGeom prst="roundRect">
            <a:avLst>
              <a:gd name="adj" fmla="val 1518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8">
                <a:alpha val="18000"/>
              </a:srgbClr>
            </a:outerShdw>
          </a:effectLst>
        </p:spPr>
      </p:sp>
      <p:pic>
        <p:nvPicPr>
          <p:cNvPr id="16" name="Image 1" descr="/tmp/claude-0/-home-user/1f2658c4-1c46-56f1-a92d-e272a0c02ab5/scratchpad/pitch-deck/images/course-detai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63040"/>
            <a:ext cx="5349240" cy="47091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94360"/>
            <a:ext cx="685800" cy="685800"/>
          </a:xfrm>
          <a:prstGeom prst="ellipse">
            <a:avLst/>
          </a:prstGeom>
          <a:solidFill>
            <a:srgbClr val="1E2A38"/>
          </a:solidFill>
          <a:ln/>
        </p:spPr>
      </p:sp>
      <p:pic>
        <p:nvPicPr>
          <p:cNvPr id="3" name="Image 0" descr="/tmp/claude-0/-home-user/1f2658c4-1c46-56f1-a92d-e272a0c02ab5/scratchpad/pitch-deck/icons/gl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749808"/>
            <a:ext cx="374904" cy="3749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94360"/>
            <a:ext cx="9601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website that actually wins admissions</a:t>
            </a:r>
            <a:endParaRPr lang="en-US" sz="2600" dirty="0"/>
          </a:p>
        </p:txBody>
      </p:sp>
      <p:pic>
        <p:nvPicPr>
          <p:cNvPr id="5" name="Image 1" descr="/tmp/claude-0/-home-user/1f2658c4-1c46-56f1-a92d-e272a0c02ab5/scratchpad/pitch-deck/icons/check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709928"/>
            <a:ext cx="201168" cy="20116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051560" y="1618488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 badges, program cards, and transparent fees — no “call for pricing”</a:t>
            </a:r>
            <a:endParaRPr lang="en-US" sz="1300" dirty="0"/>
          </a:p>
        </p:txBody>
      </p:sp>
      <p:pic>
        <p:nvPicPr>
          <p:cNvPr id="7" name="Image 2" descr="/tmp/claude-0/-home-user/1f2658c4-1c46-56f1-a92d-e272a0c02ab5/scratchpad/pitch-deck/icons/check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2368296"/>
            <a:ext cx="201168" cy="20116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051560" y="2276856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Floating WhatsApp button, click-to-call, embedded map</a:t>
            </a:r>
            <a:endParaRPr lang="en-US" sz="1300" dirty="0"/>
          </a:p>
        </p:txBody>
      </p:sp>
      <p:pic>
        <p:nvPicPr>
          <p:cNvPr id="9" name="Image 3" descr="/tmp/claude-0/-home-user/1f2658c4-1c46-56f1-a92d-e272a0c02ab5/scratchpad/pitch-deck/icons/check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026664"/>
            <a:ext cx="201168" cy="201168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051560" y="2935224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find any course or subject by name from the header</a:t>
            </a:r>
            <a:endParaRPr lang="en-US" sz="1300" dirty="0"/>
          </a:p>
        </p:txBody>
      </p:sp>
      <p:pic>
        <p:nvPicPr>
          <p:cNvPr id="11" name="Image 4" descr="/tmp/claude-0/-home-user/1f2658c4-1c46-56f1-a92d-e272a0c02ab5/scratchpad/pitch-deck/icons/check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685032"/>
            <a:ext cx="201168" cy="201168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051560" y="3593592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SEO — metadata, JSON-LD, sitemap — so Google can actually find you</a:t>
            </a:r>
            <a:endParaRPr lang="en-US" sz="1300" dirty="0"/>
          </a:p>
        </p:txBody>
      </p:sp>
      <p:pic>
        <p:nvPicPr>
          <p:cNvPr id="13" name="Image 5" descr="/tmp/claude-0/-home-user/1f2658c4-1c46-56f1-a92d-e272a0c02ab5/scratchpad/pitch-deck/icons/check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43400"/>
            <a:ext cx="201168" cy="201168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1051560" y="4251960"/>
            <a:ext cx="4709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as an app on Android and iOS, works offline</a:t>
            </a:r>
            <a:endParaRPr lang="en-US" sz="1300" dirty="0"/>
          </a:p>
        </p:txBody>
      </p:sp>
      <p:sp>
        <p:nvSpPr>
          <p:cNvPr id="15" name="Shape 7"/>
          <p:cNvSpPr/>
          <p:nvPr/>
        </p:nvSpPr>
        <p:spPr>
          <a:xfrm>
            <a:off x="6117336" y="1636776"/>
            <a:ext cx="5458968" cy="4590288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8">
                <a:alpha val="18000"/>
              </a:srgbClr>
            </a:outerShdw>
          </a:effectLst>
        </p:spPr>
      </p:sp>
      <p:pic>
        <p:nvPicPr>
          <p:cNvPr id="16" name="Image 6" descr="/tmp/claude-0/-home-user/1f2658c4-1c46-56f1-a92d-e272a0c02ab5/scratchpad/pitch-deck/images/search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72200" y="1691640"/>
            <a:ext cx="5349240" cy="4480560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85216" y="1636776"/>
            <a:ext cx="5458968" cy="4590288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8">
                <a:alpha val="18000"/>
              </a:srgbClr>
            </a:outerShdw>
          </a:effectLst>
        </p:spPr>
      </p:sp>
      <p:pic>
        <p:nvPicPr>
          <p:cNvPr id="3" name="Image 0" descr="/tmp/claude-0/-home-user/1f2658c4-1c46-56f1-a92d-e272a0c02ab5/scratchpad/pitch-deck/images/go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91640"/>
            <a:ext cx="534924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355080" y="594360"/>
            <a:ext cx="685800" cy="685800"/>
          </a:xfrm>
          <a:prstGeom prst="ellipse">
            <a:avLst/>
          </a:prstGeom>
          <a:solidFill>
            <a:srgbClr val="1E2A38"/>
          </a:solidFill>
          <a:ln/>
        </p:spPr>
      </p:sp>
      <p:pic>
        <p:nvPicPr>
          <p:cNvPr id="5" name="Image 1" descr="/tmp/claude-0/-home-user/1f2658c4-1c46-56f1-a92d-e272a0c02ab5/scratchpad/pitch-deck/icons/vide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749808"/>
            <a:ext cx="374904" cy="37490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223760" y="502920"/>
            <a:ext cx="4343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classes without Zoom or YouTube subscriptions</a:t>
            </a:r>
            <a:endParaRPr lang="en-US" sz="2200" dirty="0"/>
          </a:p>
        </p:txBody>
      </p:sp>
      <p:pic>
        <p:nvPicPr>
          <p:cNvPr id="7" name="Image 2" descr="/tmp/claude-0/-home-user/1f2658c4-1c46-56f1-a92d-e272a0c02ab5/scratchpad/pitch-deck/icons/check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709928"/>
            <a:ext cx="201168" cy="20116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6720840" y="1618488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 in one click: pick course → subject → chapter → topic</a:t>
            </a:r>
            <a:endParaRPr lang="en-US" sz="1250" dirty="0"/>
          </a:p>
        </p:txBody>
      </p:sp>
      <p:pic>
        <p:nvPicPr>
          <p:cNvPr id="9" name="Image 3" descr="/tmp/claude-0/-home-user/1f2658c4-1c46-56f1-a92d-e272a0c02ab5/scratchpad/pitch-deck/icons/check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2487168"/>
            <a:ext cx="201168" cy="201168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720840" y="2395728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Cross-link one class to reach students in other batches too</a:t>
            </a:r>
            <a:endParaRPr lang="en-US" sz="1250" dirty="0"/>
          </a:p>
        </p:txBody>
      </p:sp>
      <p:pic>
        <p:nvPicPr>
          <p:cNvPr id="11" name="Image 4" descr="/tmp/claude-0/-home-user/1f2658c4-1c46-56f1-a92d-e272a0c02ab5/scratchpad/pitch-deck/icons/check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55080" y="3264408"/>
            <a:ext cx="201168" cy="201168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6720840" y="3172968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Ending the class cuts off every watching student automatically</a:t>
            </a:r>
            <a:endParaRPr lang="en-US" sz="1250" dirty="0"/>
          </a:p>
        </p:txBody>
      </p:sp>
      <p:pic>
        <p:nvPicPr>
          <p:cNvPr id="13" name="Image 5" descr="/tmp/claude-0/-home-user/1f2658c4-1c46-56f1-a92d-e272a0c02ab5/scratchpad/pitch-deck/icons/check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55080" y="4041648"/>
            <a:ext cx="201168" cy="201168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6720840" y="3950208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join is logged for attendance — a real record, not a guess</a:t>
            </a:r>
            <a:endParaRPr lang="en-US" sz="1250" dirty="0"/>
          </a:p>
        </p:txBody>
      </p:sp>
      <p:pic>
        <p:nvPicPr>
          <p:cNvPr id="15" name="Image 6" descr="/tmp/claude-0/-home-user/1f2658c4-1c46-56f1-a92d-e272a0c02ab5/scratchpad/pitch-deck/icons/checkgol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55080" y="4818888"/>
            <a:ext cx="201168" cy="201168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6720840" y="4727448"/>
            <a:ext cx="48463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Playback watermarked with the viewer's identity</a:t>
            </a:r>
            <a:endParaRPr lang="en-US" sz="1250" dirty="0"/>
          </a:p>
        </p:txBody>
      </p:sp>
      <p:sp>
        <p:nvSpPr>
          <p:cNvPr id="17" name="Text 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685800" cy="685800"/>
          </a:xfrm>
          <a:prstGeom prst="ellipse">
            <a:avLst/>
          </a:prstGeom>
          <a:solidFill>
            <a:srgbClr val="1E2A38"/>
          </a:solidFill>
          <a:ln/>
        </p:spPr>
      </p:sp>
      <p:pic>
        <p:nvPicPr>
          <p:cNvPr id="3" name="Image 0" descr="/tmp/claude-0/-home-user/1f2658c4-1c46-56f1-a92d-e272a0c02ab5/scratchpad/pitch-deck/icons/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704088"/>
            <a:ext cx="374904" cy="3749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48640"/>
            <a:ext cx="73152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gets exactly what they need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640080" y="1234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roles, four dashboards — nobody sees more than they need to.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27152" y="1819656"/>
            <a:ext cx="2715768" cy="2446934"/>
          </a:xfrm>
          <a:prstGeom prst="roundRect">
            <a:avLst>
              <a:gd name="adj" fmla="val 299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8">
                <a:alpha val="18000"/>
              </a:srgbClr>
            </a:outerShdw>
          </a:effectLst>
        </p:spPr>
      </p:sp>
      <p:pic>
        <p:nvPicPr>
          <p:cNvPr id="7" name="Image 1" descr="/tmp/claude-0/-home-user/1f2658c4-1c46-56f1-a92d-e272a0c02ab5/scratchpad/pitch-deck/images/student-dashboar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016" y="1874520"/>
            <a:ext cx="2606040" cy="233720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82016" y="4321454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Student</a:t>
            </a:r>
            <a:endParaRPr lang="en-US" sz="1500" dirty="0"/>
          </a:p>
        </p:txBody>
      </p:sp>
      <p:sp>
        <p:nvSpPr>
          <p:cNvPr id="9" name="Text 5"/>
          <p:cNvSpPr/>
          <p:nvPr/>
        </p:nvSpPr>
        <p:spPr>
          <a:xfrm>
            <a:off x="582016" y="463235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Enrolled courses, live classes, questions</a:t>
            </a:r>
            <a:endParaRPr lang="en-US" sz="1050" dirty="0"/>
          </a:p>
        </p:txBody>
      </p:sp>
      <p:sp>
        <p:nvSpPr>
          <p:cNvPr id="10" name="Shape 6"/>
          <p:cNvSpPr/>
          <p:nvPr/>
        </p:nvSpPr>
        <p:spPr>
          <a:xfrm>
            <a:off x="3334360" y="1819656"/>
            <a:ext cx="2715768" cy="2446934"/>
          </a:xfrm>
          <a:prstGeom prst="roundRect">
            <a:avLst>
              <a:gd name="adj" fmla="val 299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8">
                <a:alpha val="18000"/>
              </a:srgbClr>
            </a:outerShdw>
          </a:effectLst>
        </p:spPr>
      </p:sp>
      <p:pic>
        <p:nvPicPr>
          <p:cNvPr id="11" name="Image 2" descr="/tmp/claude-0/-home-user/1f2658c4-1c46-56f1-a92d-e272a0c02ab5/scratchpad/pitch-deck/images/faculty-dashboa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89224" y="1874520"/>
            <a:ext cx="2606040" cy="233720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3389224" y="4321454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Faculty</a:t>
            </a:r>
            <a:endParaRPr lang="en-US" sz="1500" dirty="0"/>
          </a:p>
        </p:txBody>
      </p:sp>
      <p:sp>
        <p:nvSpPr>
          <p:cNvPr id="13" name="Text 8"/>
          <p:cNvSpPr/>
          <p:nvPr/>
        </p:nvSpPr>
        <p:spPr>
          <a:xfrm>
            <a:off x="3389224" y="463235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subjects, students, materials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6141568" y="1819656"/>
            <a:ext cx="2715768" cy="2446934"/>
          </a:xfrm>
          <a:prstGeom prst="roundRect">
            <a:avLst>
              <a:gd name="adj" fmla="val 299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8">
                <a:alpha val="18000"/>
              </a:srgbClr>
            </a:outerShdw>
          </a:effectLst>
        </p:spPr>
      </p:sp>
      <p:pic>
        <p:nvPicPr>
          <p:cNvPr id="15" name="Image 3" descr="/tmp/claude-0/-home-user/1f2658c4-1c46-56f1-a92d-e272a0c02ab5/scratchpad/pitch-deck/images/admin-dash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6432" y="1874520"/>
            <a:ext cx="2606040" cy="2337206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196432" y="4321454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Admin</a:t>
            </a:r>
            <a:endParaRPr lang="en-US" sz="1500" dirty="0"/>
          </a:p>
        </p:txBody>
      </p:sp>
      <p:sp>
        <p:nvSpPr>
          <p:cNvPr id="17" name="Text 11"/>
          <p:cNvSpPr/>
          <p:nvPr/>
        </p:nvSpPr>
        <p:spPr>
          <a:xfrm>
            <a:off x="6196432" y="463235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Courses, pricing, enrollments, staff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>
            <a:off x="8948776" y="1819656"/>
            <a:ext cx="2715768" cy="2446934"/>
          </a:xfrm>
          <a:prstGeom prst="roundRect">
            <a:avLst>
              <a:gd name="adj" fmla="val 299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8">
                <a:alpha val="18000"/>
              </a:srgbClr>
            </a:outerShdw>
          </a:effectLst>
        </p:spPr>
      </p:sp>
      <p:pic>
        <p:nvPicPr>
          <p:cNvPr id="19" name="Image 4" descr="/tmp/claude-0/-home-user/1f2658c4-1c46-56f1-a92d-e272a0c02ab5/scratchpad/pitch-deck/images/master-overvie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03640" y="1874520"/>
            <a:ext cx="2606040" cy="2337206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9003640" y="4321454"/>
            <a:ext cx="2606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Owner</a:t>
            </a:r>
            <a:endParaRPr lang="en-US" sz="1500" dirty="0"/>
          </a:p>
        </p:txBody>
      </p:sp>
      <p:sp>
        <p:nvSpPr>
          <p:cNvPr id="21" name="Text 14"/>
          <p:cNvSpPr/>
          <p:nvPr/>
        </p:nvSpPr>
        <p:spPr>
          <a:xfrm>
            <a:off x="9003640" y="4632350"/>
            <a:ext cx="2606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admin can do, plus billing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685800" cy="685800"/>
          </a:xfrm>
          <a:prstGeom prst="ellipse">
            <a:avLst/>
          </a:prstGeom>
          <a:solidFill>
            <a:srgbClr val="1E2A38"/>
          </a:solidFill>
          <a:ln/>
        </p:spPr>
      </p:sp>
      <p:pic>
        <p:nvPicPr>
          <p:cNvPr id="3" name="Image 0" descr="/tmp/claude-0/-home-user/1f2658c4-1c46-56f1-a92d-e272a0c02ab5/scratchpad/pitch-deck/icons/c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704088"/>
            <a:ext cx="374904" cy="3749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486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course, its own space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640080" y="1234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don't hunt through chats for this — each enrolled course carries its own dashboard, recordings, materials, and doubts.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85216" y="1728216"/>
            <a:ext cx="5458968" cy="3447288"/>
          </a:xfrm>
          <a:prstGeom prst="roundRect">
            <a:avLst>
              <a:gd name="adj" fmla="val 2122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8">
                <a:alpha val="18000"/>
              </a:srgbClr>
            </a:outerShdw>
          </a:effectLst>
        </p:spPr>
      </p:sp>
      <p:pic>
        <p:nvPicPr>
          <p:cNvPr id="7" name="Image 1" descr="/tmp/claude-0/-home-user/1f2658c4-1c46-56f1-a92d-e272a0c02ab5/scratchpad/pitch-deck/images/student-dashboard-lar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5349240" cy="33375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349240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Dashboard: enrolled courses, live classes, and quick links to everything else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163056" y="1728216"/>
            <a:ext cx="5458968" cy="3447288"/>
          </a:xfrm>
          <a:prstGeom prst="roundRect">
            <a:avLst>
              <a:gd name="adj" fmla="val 2122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8">
                <a:alpha val="18000"/>
              </a:srgbClr>
            </a:outerShdw>
          </a:effectLst>
        </p:spPr>
      </p:sp>
      <p:pic>
        <p:nvPicPr>
          <p:cNvPr id="10" name="Image 2" descr="/tmp/claude-0/-home-user/1f2658c4-1c46-56f1-a92d-e272a0c02ab5/scratchpad/pitch-deck/images/course-materials-questio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783080"/>
            <a:ext cx="5349240" cy="33375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217920" y="5349240"/>
            <a:ext cx="5349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Materials: recordings and files, with Ask Question embedded right below — scoped to that course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685800" cy="685800"/>
          </a:xfrm>
          <a:prstGeom prst="ellipse">
            <a:avLst/>
          </a:prstGeom>
          <a:solidFill>
            <a:srgbClr val="1E2A38"/>
          </a:solidFill>
          <a:ln/>
        </p:spPr>
      </p:sp>
      <p:pic>
        <p:nvPicPr>
          <p:cNvPr id="3" name="Image 0" descr="/tmp/claude-0/-home-user/1f2658c4-1c46-56f1-a92d-e272a0c02ab5/scratchpad/pitch-deck/icons/comm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704088"/>
            <a:ext cx="374904" cy="3749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486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Notifications and doubts, built in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640080" y="1234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more “did everyone see this” over WhatsApp, and no more doubts that vanish into a group chat.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85216" y="1728216"/>
            <a:ext cx="5458968" cy="4087368"/>
          </a:xfrm>
          <a:prstGeom prst="roundRect">
            <a:avLst>
              <a:gd name="adj" fmla="val 179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8">
                <a:alpha val="18000"/>
              </a:srgbClr>
            </a:outerShdw>
          </a:effectLst>
        </p:spPr>
      </p:sp>
      <p:pic>
        <p:nvPicPr>
          <p:cNvPr id="7" name="Image 1" descr="/tmp/claude-0/-home-user/1f2658c4-1c46-56f1-a92d-e272a0c02ab5/scratchpad/pitch-deck/images/admin-announcem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5349240" cy="397764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40080" y="5989320"/>
            <a:ext cx="5349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Notifications: five audience options, replies, and 👍 reactions</a:t>
            </a:r>
            <a:endParaRPr lang="en-US" sz="1050" dirty="0"/>
          </a:p>
        </p:txBody>
      </p:sp>
      <p:sp>
        <p:nvSpPr>
          <p:cNvPr id="9" name="Shape 5"/>
          <p:cNvSpPr/>
          <p:nvPr/>
        </p:nvSpPr>
        <p:spPr>
          <a:xfrm>
            <a:off x="6163056" y="1728216"/>
            <a:ext cx="5458968" cy="4087368"/>
          </a:xfrm>
          <a:prstGeom prst="roundRect">
            <a:avLst>
              <a:gd name="adj" fmla="val 1790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8">
                <a:alpha val="18000"/>
              </a:srgbClr>
            </a:outerShdw>
          </a:effectLst>
        </p:spPr>
      </p:sp>
      <p:pic>
        <p:nvPicPr>
          <p:cNvPr id="10" name="Image 2" descr="/tmp/claude-0/-home-user/1f2658c4-1c46-56f1-a92d-e272a0c02ab5/scratchpad/pitch-deck/images/ask-questio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783080"/>
            <a:ext cx="5349240" cy="397764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217920" y="5989320"/>
            <a:ext cx="5349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Question: a social-style Q&amp;A feed with ✅/❌ answer reactions</a:t>
            </a:r>
            <a:endParaRPr lang="en-US" sz="1050" dirty="0"/>
          </a:p>
        </p:txBody>
      </p:sp>
      <p:sp>
        <p:nvSpPr>
          <p:cNvPr id="12" name="Text 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117336" y="1636776"/>
            <a:ext cx="5458968" cy="4590288"/>
          </a:xfrm>
          <a:prstGeom prst="roundRect">
            <a:avLst>
              <a:gd name="adj" fmla="val 1594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8">
                <a:alpha val="18000"/>
              </a:srgbClr>
            </a:outerShdw>
          </a:effectLst>
        </p:spPr>
      </p:sp>
      <p:pic>
        <p:nvPicPr>
          <p:cNvPr id="3" name="Image 0" descr="/tmp/claude-0/-home-user/1f2658c4-1c46-56f1-a92d-e272a0c02ab5/scratchpad/pitch-deck/images/admin-login-activi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72200" y="1691640"/>
            <a:ext cx="5349240" cy="44805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40080" y="594360"/>
            <a:ext cx="685800" cy="685800"/>
          </a:xfrm>
          <a:prstGeom prst="ellipse">
            <a:avLst/>
          </a:prstGeom>
          <a:solidFill>
            <a:srgbClr val="1E2A38"/>
          </a:solidFill>
          <a:ln/>
        </p:spPr>
      </p:sp>
      <p:pic>
        <p:nvPicPr>
          <p:cNvPr id="5" name="Image 1" descr="/tmp/claude-0/-home-user/1f2658c4-1c46-56f1-a92d-e272a0c02ab5/scratchpad/pitch-deck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749808"/>
            <a:ext cx="374904" cy="374904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508760" y="594360"/>
            <a:ext cx="4572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action, logged automatically</a:t>
            </a:r>
            <a:endParaRPr lang="en-US" sz="2400" dirty="0"/>
          </a:p>
        </p:txBody>
      </p:sp>
      <p:pic>
        <p:nvPicPr>
          <p:cNvPr id="7" name="Image 2" descr="/tmp/claude-0/-home-user/1f2658c4-1c46-56f1-a92d-e272a0c02ab5/scratchpad/pitch-deck/icons/check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09928"/>
            <a:ext cx="201168" cy="201168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1051560" y="1618488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immutable audit log of every price, faculty, and enrollment change</a:t>
            </a:r>
            <a:endParaRPr lang="en-US" sz="1250" dirty="0"/>
          </a:p>
        </p:txBody>
      </p:sp>
      <p:pic>
        <p:nvPicPr>
          <p:cNvPr id="9" name="Image 3" descr="/tmp/claude-0/-home-user/1f2658c4-1c46-56f1-a92d-e272a0c02ab5/scratchpad/pitch-deck/icons/check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2578608"/>
            <a:ext cx="201168" cy="201168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051560" y="2487168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activity by device and location, for every OTP and password attempt</a:t>
            </a:r>
            <a:endParaRPr lang="en-US" sz="1250" dirty="0"/>
          </a:p>
        </p:txBody>
      </p:sp>
      <p:pic>
        <p:nvPicPr>
          <p:cNvPr id="11" name="Image 4" descr="/tmp/claude-0/-home-user/1f2658c4-1c46-56f1-a92d-e272a0c02ab5/scratchpad/pitch-deck/icons/check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3447288"/>
            <a:ext cx="201168" cy="201168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1051560" y="3355848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number verified once, then a password — no SMS cost on every login</a:t>
            </a:r>
            <a:endParaRPr lang="en-US" sz="1250" dirty="0"/>
          </a:p>
        </p:txBody>
      </p:sp>
      <p:pic>
        <p:nvPicPr>
          <p:cNvPr id="13" name="Image 5" descr="/tmp/claude-0/-home-user/1f2658c4-1c46-56f1-a92d-e272a0c02ab5/scratchpad/pitch-deck/icons/check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800" y="4315968"/>
            <a:ext cx="201168" cy="201168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1051560" y="4224528"/>
            <a:ext cx="4754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forgot-password, no admin has to get involved</a:t>
            </a:r>
            <a:endParaRPr lang="en-US" sz="1250" dirty="0"/>
          </a:p>
        </p:txBody>
      </p:sp>
      <p:sp>
        <p:nvSpPr>
          <p:cNvPr id="15" name="Text 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685800" cy="685800"/>
          </a:xfrm>
          <a:prstGeom prst="ellipse">
            <a:avLst/>
          </a:prstGeom>
          <a:solidFill>
            <a:srgbClr val="1E2A38"/>
          </a:solidFill>
          <a:ln/>
        </p:spPr>
      </p:sp>
      <p:pic>
        <p:nvPicPr>
          <p:cNvPr id="3" name="Image 0" descr="/tmp/claude-0/-home-user/1f2658c4-1c46-56f1-a92d-e272a0c02ab5/scratchpad/pitch-deck/icons/c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704088"/>
            <a:ext cx="374904" cy="3749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486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around how you actually run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640080" y="123444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isn't an off-the-shelf product you bend your institute around. Everything below has been built or can be — tell me how you work, and it gets built that way.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32308" y="1874520"/>
            <a:ext cx="3429000" cy="1920240"/>
          </a:xfrm>
          <a:prstGeom prst="roundRect">
            <a:avLst>
              <a:gd name="adj" fmla="val 4762"/>
            </a:avLst>
          </a:prstGeom>
          <a:solidFill>
            <a:srgbClr val="F6F7F8"/>
          </a:solidFill>
          <a:ln/>
        </p:spPr>
      </p:sp>
      <p:sp>
        <p:nvSpPr>
          <p:cNvPr id="7" name="Shape 4"/>
          <p:cNvSpPr/>
          <p:nvPr/>
        </p:nvSpPr>
        <p:spPr>
          <a:xfrm>
            <a:off x="888340" y="2148840"/>
            <a:ext cx="566928" cy="566928"/>
          </a:xfrm>
          <a:prstGeom prst="ellipse">
            <a:avLst/>
          </a:prstGeom>
          <a:solidFill>
            <a:srgbClr val="1E2A38"/>
          </a:solidFill>
          <a:ln/>
        </p:spPr>
      </p:sp>
      <p:pic>
        <p:nvPicPr>
          <p:cNvPr id="8" name="Image 1" descr="/tmp/claude-0/-home-user/1f2658c4-1c46-56f1-a92d-e272a0c02ab5/scratchpad/pitch-deck/icons/comment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5500" y="2286000"/>
            <a:ext cx="292608" cy="29260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592428" y="2167128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Complaints &amp; grievances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888340" y="2807208"/>
            <a:ext cx="291693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 or parents raise an issue privately; staff track it through to resolution, with a record.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4381348" y="1874520"/>
            <a:ext cx="3429000" cy="1920240"/>
          </a:xfrm>
          <a:prstGeom prst="roundRect">
            <a:avLst>
              <a:gd name="adj" fmla="val 4762"/>
            </a:avLst>
          </a:prstGeom>
          <a:solidFill>
            <a:srgbClr val="F6F7F8"/>
          </a:solidFill>
          <a:ln/>
        </p:spPr>
      </p:sp>
      <p:sp>
        <p:nvSpPr>
          <p:cNvPr id="12" name="Shape 8"/>
          <p:cNvSpPr/>
          <p:nvPr/>
        </p:nvSpPr>
        <p:spPr>
          <a:xfrm>
            <a:off x="4637380" y="2148840"/>
            <a:ext cx="566928" cy="566928"/>
          </a:xfrm>
          <a:prstGeom prst="ellipse">
            <a:avLst/>
          </a:prstGeom>
          <a:solidFill>
            <a:srgbClr val="1E2A38"/>
          </a:solidFill>
          <a:ln/>
        </p:spPr>
      </p:sp>
      <p:pic>
        <p:nvPicPr>
          <p:cNvPr id="13" name="Image 2" descr="/tmp/claude-0/-home-user/1f2658c4-1c46-56f1-a92d-e272a0c02ab5/scratchpad/pitch-deck/icons/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4540" y="2286000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341468" y="2167128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Attendance &amp; leave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4637380" y="2807208"/>
            <a:ext cx="291693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attendance per class, flag shortfalls early, and let faculty apply for leave in the system.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8130388" y="1874520"/>
            <a:ext cx="3429000" cy="1920240"/>
          </a:xfrm>
          <a:prstGeom prst="roundRect">
            <a:avLst>
              <a:gd name="adj" fmla="val 4762"/>
            </a:avLst>
          </a:prstGeom>
          <a:solidFill>
            <a:srgbClr val="F6F7F8"/>
          </a:solidFill>
          <a:ln/>
        </p:spPr>
      </p:sp>
      <p:sp>
        <p:nvSpPr>
          <p:cNvPr id="17" name="Shape 12"/>
          <p:cNvSpPr/>
          <p:nvPr/>
        </p:nvSpPr>
        <p:spPr>
          <a:xfrm>
            <a:off x="8386420" y="2148840"/>
            <a:ext cx="566928" cy="566928"/>
          </a:xfrm>
          <a:prstGeom prst="ellipse">
            <a:avLst/>
          </a:prstGeom>
          <a:solidFill>
            <a:srgbClr val="1E2A38"/>
          </a:solidFill>
          <a:ln/>
        </p:spPr>
      </p:sp>
      <p:pic>
        <p:nvPicPr>
          <p:cNvPr id="18" name="Image 3" descr="/tmp/claude-0/-home-user/1f2658c4-1c46-56f1-a92d-e272a0c02ab5/scratchpad/pitch-deck/icons/invoic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3580" y="2286000"/>
            <a:ext cx="292608" cy="29260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090508" y="2167128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Fees &amp; installments</a:t>
            </a:r>
            <a:endParaRPr lang="en-US" sz="1400" dirty="0"/>
          </a:p>
        </p:txBody>
      </p:sp>
      <p:sp>
        <p:nvSpPr>
          <p:cNvPr id="20" name="Text 14"/>
          <p:cNvSpPr/>
          <p:nvPr/>
        </p:nvSpPr>
        <p:spPr>
          <a:xfrm>
            <a:off x="8386420" y="2807208"/>
            <a:ext cx="291693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has paid, who is due, automatic reminders — instead of a register and phone calls.</a:t>
            </a:r>
            <a:endParaRPr lang="en-US" sz="1050" dirty="0"/>
          </a:p>
        </p:txBody>
      </p:sp>
      <p:sp>
        <p:nvSpPr>
          <p:cNvPr id="21" name="Shape 15"/>
          <p:cNvSpPr/>
          <p:nvPr/>
        </p:nvSpPr>
        <p:spPr>
          <a:xfrm>
            <a:off x="632308" y="4069080"/>
            <a:ext cx="3429000" cy="1920240"/>
          </a:xfrm>
          <a:prstGeom prst="roundRect">
            <a:avLst>
              <a:gd name="adj" fmla="val 4762"/>
            </a:avLst>
          </a:prstGeom>
          <a:solidFill>
            <a:srgbClr val="F6F7F8"/>
          </a:solidFill>
          <a:ln/>
        </p:spPr>
      </p:sp>
      <p:sp>
        <p:nvSpPr>
          <p:cNvPr id="22" name="Shape 16"/>
          <p:cNvSpPr/>
          <p:nvPr/>
        </p:nvSpPr>
        <p:spPr>
          <a:xfrm>
            <a:off x="888340" y="4343400"/>
            <a:ext cx="566928" cy="566928"/>
          </a:xfrm>
          <a:prstGeom prst="ellipse">
            <a:avLst/>
          </a:prstGeom>
          <a:solidFill>
            <a:srgbClr val="1E2A38"/>
          </a:solidFill>
          <a:ln/>
        </p:spPr>
      </p:sp>
      <p:pic>
        <p:nvPicPr>
          <p:cNvPr id="23" name="Image 4" descr="/tmp/claude-0/-home-user/1f2658c4-1c46-56f1-a92d-e272a0c02ab5/scratchpad/pitch-deck/icons/char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500" y="4480560"/>
            <a:ext cx="292608" cy="29260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1592428" y="4361688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 &amp; report cards</a:t>
            </a:r>
            <a:endParaRPr lang="en-US" sz="1400" dirty="0"/>
          </a:p>
        </p:txBody>
      </p:sp>
      <p:sp>
        <p:nvSpPr>
          <p:cNvPr id="25" name="Text 18"/>
          <p:cNvSpPr/>
          <p:nvPr/>
        </p:nvSpPr>
        <p:spPr>
          <a:xfrm>
            <a:off x="888340" y="5001768"/>
            <a:ext cx="291693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test scores, publish results to students, and show progress over the year.</a:t>
            </a:r>
            <a:endParaRPr lang="en-US" sz="1050" dirty="0"/>
          </a:p>
        </p:txBody>
      </p:sp>
      <p:sp>
        <p:nvSpPr>
          <p:cNvPr id="26" name="Shape 19"/>
          <p:cNvSpPr/>
          <p:nvPr/>
        </p:nvSpPr>
        <p:spPr>
          <a:xfrm>
            <a:off x="4381348" y="4069080"/>
            <a:ext cx="3429000" cy="1920240"/>
          </a:xfrm>
          <a:prstGeom prst="roundRect">
            <a:avLst>
              <a:gd name="adj" fmla="val 4762"/>
            </a:avLst>
          </a:prstGeom>
          <a:solidFill>
            <a:srgbClr val="F6F7F8"/>
          </a:solidFill>
          <a:ln/>
        </p:spPr>
      </p:sp>
      <p:sp>
        <p:nvSpPr>
          <p:cNvPr id="27" name="Shape 20"/>
          <p:cNvSpPr/>
          <p:nvPr/>
        </p:nvSpPr>
        <p:spPr>
          <a:xfrm>
            <a:off x="4637380" y="4343400"/>
            <a:ext cx="566928" cy="566928"/>
          </a:xfrm>
          <a:prstGeom prst="ellipse">
            <a:avLst/>
          </a:prstGeom>
          <a:solidFill>
            <a:srgbClr val="1E2A38"/>
          </a:solidFill>
          <a:ln/>
        </p:spPr>
      </p:sp>
      <p:pic>
        <p:nvPicPr>
          <p:cNvPr id="28" name="Image 5" descr="/tmp/claude-0/-home-user/1f2658c4-1c46-56f1-a92d-e272a0c02ab5/scratchpad/pitch-deck/icons/pho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4540" y="4480560"/>
            <a:ext cx="292608" cy="292608"/>
          </a:xfrm>
          <a:prstGeom prst="rect">
            <a:avLst/>
          </a:prstGeom>
        </p:spPr>
      </p:pic>
      <p:sp>
        <p:nvSpPr>
          <p:cNvPr id="29" name="Text 21"/>
          <p:cNvSpPr/>
          <p:nvPr/>
        </p:nvSpPr>
        <p:spPr>
          <a:xfrm>
            <a:off x="5341468" y="4361688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Parent access &amp; alerts</a:t>
            </a:r>
            <a:endParaRPr lang="en-US" sz="1400" dirty="0"/>
          </a:p>
        </p:txBody>
      </p:sp>
      <p:sp>
        <p:nvSpPr>
          <p:cNvPr id="30" name="Text 22"/>
          <p:cNvSpPr/>
          <p:nvPr/>
        </p:nvSpPr>
        <p:spPr>
          <a:xfrm>
            <a:off x="4637380" y="5001768"/>
            <a:ext cx="291693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view of attendance, fees, and results, with SMS or push for anything urgent.</a:t>
            </a:r>
            <a:endParaRPr lang="en-US" sz="1050" dirty="0"/>
          </a:p>
        </p:txBody>
      </p:sp>
      <p:sp>
        <p:nvSpPr>
          <p:cNvPr id="31" name="Shape 23"/>
          <p:cNvSpPr/>
          <p:nvPr/>
        </p:nvSpPr>
        <p:spPr>
          <a:xfrm>
            <a:off x="8130388" y="4069080"/>
            <a:ext cx="3429000" cy="1920240"/>
          </a:xfrm>
          <a:prstGeom prst="roundRect">
            <a:avLst>
              <a:gd name="adj" fmla="val 4762"/>
            </a:avLst>
          </a:prstGeom>
          <a:solidFill>
            <a:srgbClr val="F6F7F8"/>
          </a:solidFill>
          <a:ln/>
        </p:spPr>
      </p:sp>
      <p:sp>
        <p:nvSpPr>
          <p:cNvPr id="32" name="Shape 24"/>
          <p:cNvSpPr/>
          <p:nvPr/>
        </p:nvSpPr>
        <p:spPr>
          <a:xfrm>
            <a:off x="8386420" y="4343400"/>
            <a:ext cx="566928" cy="566928"/>
          </a:xfrm>
          <a:prstGeom prst="ellipse">
            <a:avLst/>
          </a:prstGeom>
          <a:solidFill>
            <a:srgbClr val="1E2A38"/>
          </a:solidFill>
          <a:ln/>
        </p:spPr>
      </p:sp>
      <p:pic>
        <p:nvPicPr>
          <p:cNvPr id="33" name="Image 6" descr="/tmp/claude-0/-home-user/1f2658c4-1c46-56f1-a92d-e272a0c02ab5/scratchpad/pitch-deck/icons/user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23580" y="4480560"/>
            <a:ext cx="292608" cy="292608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9090508" y="4361688"/>
            <a:ext cx="2240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Staff, roles &amp; payroll</a:t>
            </a:r>
            <a:endParaRPr lang="en-US" sz="1400" dirty="0"/>
          </a:p>
        </p:txBody>
      </p:sp>
      <p:sp>
        <p:nvSpPr>
          <p:cNvPr id="35" name="Text 26"/>
          <p:cNvSpPr/>
          <p:nvPr/>
        </p:nvSpPr>
        <p:spPr>
          <a:xfrm>
            <a:off x="8386420" y="5001768"/>
            <a:ext cx="2916936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Salary records, staff attendance, and finer permissions than the four standard roles.</a:t>
            </a:r>
            <a:endParaRPr lang="en-US" sz="1050" dirty="0"/>
          </a:p>
        </p:txBody>
      </p:sp>
      <p:sp>
        <p:nvSpPr>
          <p:cNvPr id="36" name="Text 27"/>
          <p:cNvSpPr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specific to your institute — if you can describe it, it can be built in.</a:t>
            </a:r>
            <a:endParaRPr lang="en-US" sz="1200" dirty="0"/>
          </a:p>
        </p:txBody>
      </p:sp>
      <p:sp>
        <p:nvSpPr>
          <p:cNvPr id="37" name="Text 2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9436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actually changes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82600" y="1965960"/>
            <a:ext cx="2514600" cy="3383280"/>
          </a:xfrm>
          <a:prstGeom prst="roundRect">
            <a:avLst>
              <a:gd name="adj" fmla="val 3636"/>
            </a:avLst>
          </a:prstGeom>
          <a:solidFill>
            <a:srgbClr val="2A3A4D"/>
          </a:solidFill>
          <a:ln w="12700">
            <a:solidFill>
              <a:srgbClr val="3A4A5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574140" y="2331720"/>
            <a:ext cx="731520" cy="731520"/>
          </a:xfrm>
          <a:prstGeom prst="ellipse">
            <a:avLst/>
          </a:prstGeom>
          <a:solidFill>
            <a:srgbClr val="F2C230"/>
          </a:solidFill>
          <a:ln/>
        </p:spPr>
      </p:sp>
      <p:pic>
        <p:nvPicPr>
          <p:cNvPr id="5" name="Image 0" descr="/tmp/claude-0/-home-user/1f2658c4-1c46-56f1-a92d-e272a0c02ab5/scratchpad/pitch-deck/icons/us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57020" y="25146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5480" y="329184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Found by new families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911200" y="4069080"/>
            <a:ext cx="2057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and converts visitors who’d never have called otherwise.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53232" y="1965960"/>
            <a:ext cx="2514600" cy="3383280"/>
          </a:xfrm>
          <a:prstGeom prst="roundRect">
            <a:avLst>
              <a:gd name="adj" fmla="val 3636"/>
            </a:avLst>
          </a:prstGeom>
          <a:solidFill>
            <a:srgbClr val="2A3A4D"/>
          </a:solidFill>
          <a:ln w="12700">
            <a:solidFill>
              <a:srgbClr val="3A4A5D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344772" y="2331720"/>
            <a:ext cx="731520" cy="731520"/>
          </a:xfrm>
          <a:prstGeom prst="ellipse">
            <a:avLst/>
          </a:prstGeom>
          <a:solidFill>
            <a:srgbClr val="F2C230"/>
          </a:solidFill>
          <a:ln/>
        </p:spPr>
      </p:sp>
      <p:pic>
        <p:nvPicPr>
          <p:cNvPr id="10" name="Image 1" descr="/tmp/claude-0/-home-user/1f2658c4-1c46-56f1-a92d-e272a0c02ab5/scratchpad/pitch-deck/icons/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7652" y="25146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636112" y="329184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Hours back every week</a:t>
            </a:r>
            <a:endParaRPr lang="en-US" sz="1450" dirty="0"/>
          </a:p>
        </p:txBody>
      </p:sp>
      <p:sp>
        <p:nvSpPr>
          <p:cNvPr id="12" name="Text 8"/>
          <p:cNvSpPr/>
          <p:nvPr/>
        </p:nvSpPr>
        <p:spPr>
          <a:xfrm>
            <a:off x="3681832" y="4069080"/>
            <a:ext cx="2057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Enrollments, pricing, and faculty changes take minutes, not phone calls.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223864" y="1965960"/>
            <a:ext cx="2514600" cy="3383280"/>
          </a:xfrm>
          <a:prstGeom prst="roundRect">
            <a:avLst>
              <a:gd name="adj" fmla="val 3636"/>
            </a:avLst>
          </a:prstGeom>
          <a:solidFill>
            <a:srgbClr val="2A3A4D"/>
          </a:solidFill>
          <a:ln w="12700">
            <a:solidFill>
              <a:srgbClr val="3A4A5D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115404" y="2331720"/>
            <a:ext cx="731520" cy="731520"/>
          </a:xfrm>
          <a:prstGeom prst="ellipse">
            <a:avLst/>
          </a:prstGeom>
          <a:solidFill>
            <a:srgbClr val="F2C230"/>
          </a:solidFill>
          <a:ln/>
        </p:spPr>
      </p:sp>
      <p:pic>
        <p:nvPicPr>
          <p:cNvPr id="15" name="Image 2" descr="/tmp/claude-0/-home-user/1f2658c4-1c46-56f1-a92d-e272a0c02ab5/scratchpad/pitch-deck/icons/shie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8284" y="251460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406744" y="329184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falls through the cracks</a:t>
            </a:r>
            <a:endParaRPr lang="en-US" sz="1450" dirty="0"/>
          </a:p>
        </p:txBody>
      </p:sp>
      <p:sp>
        <p:nvSpPr>
          <p:cNvPr id="17" name="Text 12"/>
          <p:cNvSpPr/>
          <p:nvPr/>
        </p:nvSpPr>
        <p:spPr>
          <a:xfrm>
            <a:off x="6452464" y="4069080"/>
            <a:ext cx="2057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login, price change, and doubt is tracked automatically.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8994496" y="1965960"/>
            <a:ext cx="2514600" cy="3383280"/>
          </a:xfrm>
          <a:prstGeom prst="roundRect">
            <a:avLst>
              <a:gd name="adj" fmla="val 3636"/>
            </a:avLst>
          </a:prstGeom>
          <a:solidFill>
            <a:srgbClr val="2A3A4D"/>
          </a:solidFill>
          <a:ln w="12700">
            <a:solidFill>
              <a:srgbClr val="3A4A5D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9886036" y="2331720"/>
            <a:ext cx="731520" cy="731520"/>
          </a:xfrm>
          <a:prstGeom prst="ellipse">
            <a:avLst/>
          </a:prstGeom>
          <a:solidFill>
            <a:srgbClr val="F2C230"/>
          </a:solidFill>
          <a:ln/>
        </p:spPr>
      </p:sp>
      <p:pic>
        <p:nvPicPr>
          <p:cNvPr id="20" name="Image 3" descr="/tmp/claude-0/-home-user/1f2658c4-1c46-56f1-a92d-e272a0c02ab5/scratchpad/pitch-deck/icons/dashboar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68916" y="251460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9177376" y="3291840"/>
            <a:ext cx="21488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system, four roles</a:t>
            </a:r>
            <a:endParaRPr lang="en-US" sz="1450" dirty="0"/>
          </a:p>
        </p:txBody>
      </p:sp>
      <p:sp>
        <p:nvSpPr>
          <p:cNvPr id="22" name="Text 16"/>
          <p:cNvSpPr/>
          <p:nvPr/>
        </p:nvSpPr>
        <p:spPr>
          <a:xfrm>
            <a:off x="9223096" y="4069080"/>
            <a:ext cx="2057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B9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Students, faculty, admins, and the owner each get their own view of it.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build it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801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straight line from first call to a platform your students are actually using.</a:t>
            </a:r>
            <a:endParaRPr lang="en-US" sz="1350" dirty="0"/>
          </a:p>
        </p:txBody>
      </p:sp>
      <p:sp>
        <p:nvSpPr>
          <p:cNvPr id="4" name="Text 2"/>
          <p:cNvSpPr/>
          <p:nvPr/>
        </p:nvSpPr>
        <p:spPr>
          <a:xfrm>
            <a:off x="678028" y="1874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CDD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455268" y="2377440"/>
            <a:ext cx="914400" cy="914400"/>
          </a:xfrm>
          <a:prstGeom prst="ellipse">
            <a:avLst/>
          </a:prstGeom>
          <a:solidFill>
            <a:srgbClr val="1F6F6F"/>
          </a:solidFill>
          <a:ln/>
        </p:spPr>
      </p:sp>
      <p:pic>
        <p:nvPicPr>
          <p:cNvPr id="6" name="Image 0" descr="/tmp/claude-0/-home-user/1f2658c4-1c46-56f1-a92d-e272a0c02ab5/scratchpad/pitch-deck/icons/sear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74724" y="2596896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78028" y="35204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Discovery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69468" y="3950208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to map your courses, batches, and what “done” looks like for you.</a:t>
            </a:r>
            <a:endParaRPr lang="en-US" sz="1100" dirty="0"/>
          </a:p>
        </p:txBody>
      </p:sp>
      <p:pic>
        <p:nvPicPr>
          <p:cNvPr id="9" name="Image 1" descr="/tmp/claude-0/-home-user/1f2658c4-1c46-56f1-a92d-e272a0c02ab5/scratchpad/pitch-deck/icons/arro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8912" y="2706624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466948" y="1874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CDD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4244188" y="2377440"/>
            <a:ext cx="914400" cy="914400"/>
          </a:xfrm>
          <a:prstGeom prst="ellipse">
            <a:avLst/>
          </a:prstGeom>
          <a:solidFill>
            <a:srgbClr val="1E2A38"/>
          </a:solidFill>
          <a:ln/>
        </p:spPr>
      </p:sp>
      <p:pic>
        <p:nvPicPr>
          <p:cNvPr id="12" name="Image 2" descr="/tmp/claude-0/-home-user/1f2658c4-1c46-56f1-a92d-e272a0c02ab5/scratchpad/pitch-deck/icons/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3644" y="259689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3466948" y="35204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</a:t>
            </a:r>
            <a:endParaRPr lang="en-US" sz="1600" dirty="0"/>
          </a:p>
        </p:txBody>
      </p:sp>
      <p:sp>
        <p:nvSpPr>
          <p:cNvPr id="14" name="Text 9"/>
          <p:cNvSpPr/>
          <p:nvPr/>
        </p:nvSpPr>
        <p:spPr>
          <a:xfrm>
            <a:off x="3558388" y="3950208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site, dashboards, and live-class flow, built against your real content.</a:t>
            </a:r>
            <a:endParaRPr lang="en-US" sz="1100" dirty="0"/>
          </a:p>
        </p:txBody>
      </p:sp>
      <p:pic>
        <p:nvPicPr>
          <p:cNvPr id="15" name="Image 3" descr="/tmp/claude-0/-home-user/1f2658c4-1c46-56f1-a92d-e272a0c02ab5/scratchpad/pitch-deck/icons/arro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67832" y="2706624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6255868" y="1874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CDD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7033108" y="2377440"/>
            <a:ext cx="914400" cy="914400"/>
          </a:xfrm>
          <a:prstGeom prst="ellipse">
            <a:avLst/>
          </a:prstGeom>
          <a:solidFill>
            <a:srgbClr val="1F6F6F"/>
          </a:solidFill>
          <a:ln/>
        </p:spPr>
      </p:sp>
      <p:pic>
        <p:nvPicPr>
          <p:cNvPr id="18" name="Image 4" descr="/tmp/claude-0/-home-user/1f2658c4-1c46-56f1-a92d-e272a0c02ab5/scratchpad/pitch-deck/icons/rocket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52564" y="2596896"/>
            <a:ext cx="475488" cy="475488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6255868" y="35204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</a:t>
            </a:r>
            <a:endParaRPr lang="en-US" sz="1600" dirty="0"/>
          </a:p>
        </p:txBody>
      </p:sp>
      <p:sp>
        <p:nvSpPr>
          <p:cNvPr id="20" name="Text 13"/>
          <p:cNvSpPr/>
          <p:nvPr/>
        </p:nvSpPr>
        <p:spPr>
          <a:xfrm>
            <a:off x="6347308" y="3950208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 with your own domain, branding, and a working admissions funnel.</a:t>
            </a:r>
            <a:endParaRPr lang="en-US" sz="1100" dirty="0"/>
          </a:p>
        </p:txBody>
      </p:sp>
      <p:pic>
        <p:nvPicPr>
          <p:cNvPr id="21" name="Image 5" descr="/tmp/claude-0/-home-user/1f2658c4-1c46-56f1-a92d-e272a0c02ab5/scratchpad/pitch-deck/icons/arrow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6752" y="2706624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044788" y="187452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CDD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Shape 15"/>
          <p:cNvSpPr/>
          <p:nvPr/>
        </p:nvSpPr>
        <p:spPr>
          <a:xfrm>
            <a:off x="9822028" y="2377440"/>
            <a:ext cx="914400" cy="914400"/>
          </a:xfrm>
          <a:prstGeom prst="ellipse">
            <a:avLst/>
          </a:prstGeom>
          <a:solidFill>
            <a:srgbClr val="1E2A38"/>
          </a:solidFill>
          <a:ln/>
        </p:spPr>
      </p:sp>
      <p:pic>
        <p:nvPicPr>
          <p:cNvPr id="24" name="Image 6" descr="/tmp/claude-0/-home-user/1f2658c4-1c46-56f1-a92d-e272a0c02ab5/scratchpad/pitch-deck/icons/headse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41484" y="2596896"/>
            <a:ext cx="475488" cy="47548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9044788" y="3520440"/>
            <a:ext cx="2468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</a:t>
            </a:r>
            <a:endParaRPr lang="en-US" sz="1600" dirty="0"/>
          </a:p>
        </p:txBody>
      </p:sp>
      <p:sp>
        <p:nvSpPr>
          <p:cNvPr id="26" name="Text 17"/>
          <p:cNvSpPr/>
          <p:nvPr/>
        </p:nvSpPr>
        <p:spPr>
          <a:xfrm>
            <a:off x="9136228" y="3950208"/>
            <a:ext cx="22860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access to the person who built it, not a ticket queue.</a:t>
            </a:r>
            <a:endParaRPr lang="en-US" sz="1100" dirty="0"/>
          </a:p>
        </p:txBody>
      </p:sp>
      <p:sp>
        <p:nvSpPr>
          <p:cNvPr id="27" name="Text 18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7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Choose how much you need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year includes full setup — renewals cost less. Every tier is configured with your courses and branding.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32308" y="1874520"/>
            <a:ext cx="3429000" cy="40690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8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06628" y="219456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Website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906628" y="2606040"/>
            <a:ext cx="2880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found, get called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906628" y="2944368"/>
            <a:ext cx="2880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6F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₹20,000</a:t>
            </a:r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first year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906628" y="34015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₹12,000 / year · ₹1,000 / month</a:t>
            </a:r>
            <a:endParaRPr lang="en-US" sz="950" dirty="0"/>
          </a:p>
        </p:txBody>
      </p:sp>
      <p:pic>
        <p:nvPicPr>
          <p:cNvPr id="9" name="Image 0" descr="/tmp/claude-0/-home-user/1f2658c4-1c46-56f1-a92d-e272a0c02ab5/scratchpad/pitch-deck/icons/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6628" y="3694176"/>
            <a:ext cx="182880" cy="18288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199236" y="3621024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site with SEO</a:t>
            </a:r>
            <a:endParaRPr lang="en-US" sz="1100" dirty="0"/>
          </a:p>
        </p:txBody>
      </p:sp>
      <p:pic>
        <p:nvPicPr>
          <p:cNvPr id="11" name="Image 1" descr="/tmp/claude-0/-home-user/1f2658c4-1c46-56f1-a92d-e272a0c02ab5/scratchpad/pitch-deck/icons/che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6628" y="4123944"/>
            <a:ext cx="182880" cy="18288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199236" y="4050792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 catalog &amp; search</a:t>
            </a:r>
            <a:endParaRPr lang="en-US" sz="1100" dirty="0"/>
          </a:p>
        </p:txBody>
      </p:sp>
      <p:pic>
        <p:nvPicPr>
          <p:cNvPr id="13" name="Image 2" descr="/tmp/claude-0/-home-user/1f2658c4-1c46-56f1-a92d-e272a0c02ab5/scratchpad/pitch-deck/icons/che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628" y="4553712"/>
            <a:ext cx="182880" cy="1828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99236" y="448056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+ click-to-call</a:t>
            </a:r>
            <a:endParaRPr lang="en-US" sz="1100" dirty="0"/>
          </a:p>
        </p:txBody>
      </p:sp>
      <p:pic>
        <p:nvPicPr>
          <p:cNvPr id="15" name="Image 3" descr="/tmp/claude-0/-home-user/1f2658c4-1c46-56f1-a92d-e272a0c02ab5/scratchpad/pitch-deck/icons/chec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6628" y="4983480"/>
            <a:ext cx="182880" cy="18288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199236" y="491032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Installable PWA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4381348" y="1737360"/>
            <a:ext cx="3429000" cy="4343400"/>
          </a:xfrm>
          <a:prstGeom prst="roundRect">
            <a:avLst>
              <a:gd name="adj" fmla="val 2667"/>
            </a:avLst>
          </a:prstGeom>
          <a:solidFill>
            <a:srgbClr val="1E2A38"/>
          </a:solidFill>
          <a:ln/>
          <a:effectLst>
            <a:outerShdw sx="100000" sy="100000" kx="0" ky="0" algn="bl" rotWithShape="0" blurRad="127000" dist="38100" dir="5400000">
              <a:srgbClr val="1E2A38">
                <a:alpha val="18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5318608" y="1965960"/>
            <a:ext cx="1554480" cy="292608"/>
          </a:xfrm>
          <a:prstGeom prst="roundRect">
            <a:avLst>
              <a:gd name="adj" fmla="val 50000"/>
            </a:avLst>
          </a:prstGeom>
          <a:solidFill>
            <a:srgbClr val="F2C230"/>
          </a:solidFill>
          <a:ln/>
        </p:spPr>
      </p:sp>
      <p:sp>
        <p:nvSpPr>
          <p:cNvPr id="19" name="Text 13"/>
          <p:cNvSpPr/>
          <p:nvPr/>
        </p:nvSpPr>
        <p:spPr>
          <a:xfrm>
            <a:off x="5318608" y="1965960"/>
            <a:ext cx="1554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POPULAR</a:t>
            </a:r>
            <a:endParaRPr lang="en-US" sz="900" dirty="0"/>
          </a:p>
        </p:txBody>
      </p:sp>
      <p:sp>
        <p:nvSpPr>
          <p:cNvPr id="20" name="Text 14"/>
          <p:cNvSpPr/>
          <p:nvPr/>
        </p:nvSpPr>
        <p:spPr>
          <a:xfrm>
            <a:off x="4655668" y="2395728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Website + Dashboards</a:t>
            </a:r>
            <a:endParaRPr lang="en-US" sz="1900" dirty="0"/>
          </a:p>
        </p:txBody>
      </p:sp>
      <p:sp>
        <p:nvSpPr>
          <p:cNvPr id="21" name="Text 15"/>
          <p:cNvSpPr/>
          <p:nvPr/>
        </p:nvSpPr>
        <p:spPr>
          <a:xfrm>
            <a:off x="4655668" y="2807208"/>
            <a:ext cx="2880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F2C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whole operation</a:t>
            </a:r>
            <a:endParaRPr lang="en-US" sz="1150" dirty="0"/>
          </a:p>
        </p:txBody>
      </p:sp>
      <p:sp>
        <p:nvSpPr>
          <p:cNvPr id="22" name="Text 16"/>
          <p:cNvSpPr/>
          <p:nvPr/>
        </p:nvSpPr>
        <p:spPr>
          <a:xfrm>
            <a:off x="4655668" y="3145536"/>
            <a:ext cx="2880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2C2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₹60,000</a:t>
            </a:r>
            <a:pPr indent="0" marL="0">
              <a:buNone/>
            </a:pPr>
            <a:r>
              <a:rPr lang="en-US" sz="1200" dirty="0">
                <a:solidFill>
                  <a:srgbClr val="B9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first year</a:t>
            </a:r>
            <a:endParaRPr lang="en-US" sz="2600" dirty="0"/>
          </a:p>
        </p:txBody>
      </p:sp>
      <p:sp>
        <p:nvSpPr>
          <p:cNvPr id="23" name="Text 17"/>
          <p:cNvSpPr/>
          <p:nvPr/>
        </p:nvSpPr>
        <p:spPr>
          <a:xfrm>
            <a:off x="4655668" y="3602736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B9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₹36,000 / year · ₹3,000 / month</a:t>
            </a:r>
            <a:endParaRPr lang="en-US" sz="950" dirty="0"/>
          </a:p>
        </p:txBody>
      </p:sp>
      <p:pic>
        <p:nvPicPr>
          <p:cNvPr id="24" name="Image 4" descr="/tmp/claude-0/-home-user/1f2658c4-1c46-56f1-a92d-e272a0c02ab5/scratchpad/pitch-deck/icons/checkgol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55668" y="3895344"/>
            <a:ext cx="182880" cy="182880"/>
          </a:xfrm>
          <a:prstGeom prst="rect">
            <a:avLst/>
          </a:prstGeom>
        </p:spPr>
      </p:pic>
      <p:sp>
        <p:nvSpPr>
          <p:cNvPr id="25" name="Text 18"/>
          <p:cNvSpPr/>
          <p:nvPr/>
        </p:nvSpPr>
        <p:spPr>
          <a:xfrm>
            <a:off x="4948276" y="3822192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4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of the Website plan</a:t>
            </a:r>
            <a:endParaRPr lang="en-US" sz="1100" dirty="0"/>
          </a:p>
        </p:txBody>
      </p:sp>
      <p:pic>
        <p:nvPicPr>
          <p:cNvPr id="26" name="Image 5" descr="/tmp/claude-0/-home-user/1f2658c4-1c46-56f1-a92d-e272a0c02ab5/scratchpad/pitch-deck/icons/check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55668" y="4325112"/>
            <a:ext cx="182880" cy="18288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948276" y="425196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4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/ faculty / admin dashboards</a:t>
            </a:r>
            <a:endParaRPr lang="en-US" sz="1100" dirty="0"/>
          </a:p>
        </p:txBody>
      </p:sp>
      <p:pic>
        <p:nvPicPr>
          <p:cNvPr id="28" name="Image 6" descr="/tmp/claude-0/-home-user/1f2658c4-1c46-56f1-a92d-e272a0c02ab5/scratchpad/pitch-deck/icons/checkgol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55668" y="4754880"/>
            <a:ext cx="182880" cy="18288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4948276" y="468172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4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classes &amp; recordings</a:t>
            </a:r>
            <a:endParaRPr lang="en-US" sz="1100" dirty="0"/>
          </a:p>
        </p:txBody>
      </p:sp>
      <p:pic>
        <p:nvPicPr>
          <p:cNvPr id="30" name="Image 7" descr="/tmp/claude-0/-home-user/1f2658c4-1c46-56f1-a92d-e272a0c02ab5/scratchpad/pitch-deck/icons/checkgol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55668" y="5184648"/>
            <a:ext cx="182880" cy="182880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4948276" y="5111496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4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Notifications, Ask Question &amp; a homepage banner</a:t>
            </a:r>
            <a:endParaRPr lang="en-US" sz="1100" dirty="0"/>
          </a:p>
        </p:txBody>
      </p:sp>
      <p:pic>
        <p:nvPicPr>
          <p:cNvPr id="32" name="Image 8" descr="/tmp/claude-0/-home-user/1f2658c4-1c46-56f1-a92d-e272a0c02ab5/scratchpad/pitch-deck/icons/checkgol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655668" y="5614416"/>
            <a:ext cx="182880" cy="182880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4948276" y="5541264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E4E9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Enrollment tracking, audit log &amp; login activity</a:t>
            </a:r>
            <a:endParaRPr lang="en-US" sz="1100" dirty="0"/>
          </a:p>
        </p:txBody>
      </p:sp>
      <p:sp>
        <p:nvSpPr>
          <p:cNvPr id="34" name="Shape 23"/>
          <p:cNvSpPr/>
          <p:nvPr/>
        </p:nvSpPr>
        <p:spPr>
          <a:xfrm>
            <a:off x="8130388" y="1874520"/>
            <a:ext cx="3429000" cy="406908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8DCE1"/>
            </a:solidFill>
            <a:prstDash val="solid"/>
          </a:ln>
          <a:effectLst>
            <a:outerShdw sx="100000" sy="100000" kx="0" ky="0" algn="bl" rotWithShape="0" blurRad="127000" dist="38100" dir="5400000">
              <a:srgbClr val="1E2A38">
                <a:alpha val="18000"/>
              </a:srgbClr>
            </a:outerShdw>
          </a:effectLst>
        </p:spPr>
      </p:sp>
      <p:sp>
        <p:nvSpPr>
          <p:cNvPr id="35" name="Text 24"/>
          <p:cNvSpPr/>
          <p:nvPr/>
        </p:nvSpPr>
        <p:spPr>
          <a:xfrm>
            <a:off x="8404708" y="2194560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Full Platform + Custom</a:t>
            </a:r>
            <a:endParaRPr lang="en-US" sz="1900" dirty="0"/>
          </a:p>
        </p:txBody>
      </p:sp>
      <p:sp>
        <p:nvSpPr>
          <p:cNvPr id="36" name="Text 25"/>
          <p:cNvSpPr/>
          <p:nvPr/>
        </p:nvSpPr>
        <p:spPr>
          <a:xfrm>
            <a:off x="8404708" y="2606040"/>
            <a:ext cx="2880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F6F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your workflow</a:t>
            </a:r>
            <a:endParaRPr lang="en-US" sz="1150" dirty="0"/>
          </a:p>
        </p:txBody>
      </p:sp>
      <p:sp>
        <p:nvSpPr>
          <p:cNvPr id="37" name="Text 26"/>
          <p:cNvSpPr/>
          <p:nvPr/>
        </p:nvSpPr>
        <p:spPr>
          <a:xfrm>
            <a:off x="8404708" y="2944368"/>
            <a:ext cx="28803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6F6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₹90,000</a:t>
            </a:r>
            <a:pPr indent="0" marL="0">
              <a:buNone/>
            </a:pPr>
            <a:r>
              <a:rPr lang="en-US" sz="12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first year</a:t>
            </a:r>
            <a:endParaRPr lang="en-US" sz="2600" dirty="0"/>
          </a:p>
        </p:txBody>
      </p:sp>
      <p:sp>
        <p:nvSpPr>
          <p:cNvPr id="38" name="Text 27"/>
          <p:cNvSpPr/>
          <p:nvPr/>
        </p:nvSpPr>
        <p:spPr>
          <a:xfrm>
            <a:off x="8404708" y="340156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₹54,000 / year · ₹4,500 / month</a:t>
            </a:r>
            <a:endParaRPr lang="en-US" sz="950" dirty="0"/>
          </a:p>
        </p:txBody>
      </p:sp>
      <p:pic>
        <p:nvPicPr>
          <p:cNvPr id="39" name="Image 9" descr="/tmp/claude-0/-home-user/1f2658c4-1c46-56f1-a92d-e272a0c02ab5/scratchpad/pitch-deck/icons/check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04708" y="3694176"/>
            <a:ext cx="182880" cy="182880"/>
          </a:xfrm>
          <a:prstGeom prst="rect">
            <a:avLst/>
          </a:prstGeom>
        </p:spPr>
      </p:pic>
      <p:sp>
        <p:nvSpPr>
          <p:cNvPr id="40" name="Text 28"/>
          <p:cNvSpPr/>
          <p:nvPr/>
        </p:nvSpPr>
        <p:spPr>
          <a:xfrm>
            <a:off x="8697316" y="3621024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Website + Dashboards</a:t>
            </a:r>
            <a:endParaRPr lang="en-US" sz="1100" dirty="0"/>
          </a:p>
        </p:txBody>
      </p:sp>
      <p:pic>
        <p:nvPicPr>
          <p:cNvPr id="41" name="Image 10" descr="/tmp/claude-0/-home-user/1f2658c4-1c46-56f1-a92d-e272a0c02ab5/scratchpad/pitch-deck/icons/chec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404708" y="4123944"/>
            <a:ext cx="182880" cy="182880"/>
          </a:xfrm>
          <a:prstGeom prst="rect">
            <a:avLst/>
          </a:prstGeom>
        </p:spPr>
      </p:pic>
      <p:sp>
        <p:nvSpPr>
          <p:cNvPr id="42" name="Text 29"/>
          <p:cNvSpPr/>
          <p:nvPr/>
        </p:nvSpPr>
        <p:spPr>
          <a:xfrm>
            <a:off x="8697316" y="4050792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features built for you</a:t>
            </a:r>
            <a:endParaRPr lang="en-US" sz="1100" dirty="0"/>
          </a:p>
        </p:txBody>
      </p:sp>
      <p:pic>
        <p:nvPicPr>
          <p:cNvPr id="43" name="Image 11" descr="/tmp/claude-0/-home-user/1f2658c4-1c46-56f1-a92d-e272a0c02ab5/scratchpad/pitch-deck/icons/check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404708" y="4553712"/>
            <a:ext cx="182880" cy="182880"/>
          </a:xfrm>
          <a:prstGeom prst="rect">
            <a:avLst/>
          </a:prstGeom>
        </p:spPr>
      </p:pic>
      <p:sp>
        <p:nvSpPr>
          <p:cNvPr id="44" name="Text 30"/>
          <p:cNvSpPr/>
          <p:nvPr/>
        </p:nvSpPr>
        <p:spPr>
          <a:xfrm>
            <a:off x="8697316" y="448056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Complaints, attendance, fees, report cards</a:t>
            </a:r>
            <a:endParaRPr lang="en-US" sz="1100" dirty="0"/>
          </a:p>
        </p:txBody>
      </p:sp>
      <p:pic>
        <p:nvPicPr>
          <p:cNvPr id="45" name="Image 12" descr="/tmp/claude-0/-home-user/1f2658c4-1c46-56f1-a92d-e272a0c02ab5/scratchpad/pitch-deck/icons/check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04708" y="4983480"/>
            <a:ext cx="182880" cy="182880"/>
          </a:xfrm>
          <a:prstGeom prst="rect">
            <a:avLst/>
          </a:prstGeom>
        </p:spPr>
      </p:pic>
      <p:sp>
        <p:nvSpPr>
          <p:cNvPr id="46" name="Text 31"/>
          <p:cNvSpPr/>
          <p:nvPr/>
        </p:nvSpPr>
        <p:spPr>
          <a:xfrm>
            <a:off x="8697316" y="4910328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custom features maintained &amp; supported</a:t>
            </a:r>
            <a:endParaRPr lang="en-US" sz="1100" dirty="0"/>
          </a:p>
        </p:txBody>
      </p:sp>
      <p:sp>
        <p:nvSpPr>
          <p:cNvPr id="47" name="Text 32"/>
          <p:cNvSpPr/>
          <p:nvPr/>
        </p:nvSpPr>
        <p:spPr>
          <a:xfrm>
            <a:off x="640080" y="621792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plan includes up to 150 active students — ₹150 per student / year beyond that.</a:t>
            </a:r>
            <a:endParaRPr lang="en-US" sz="1100" dirty="0"/>
          </a:p>
        </p:txBody>
      </p:sp>
      <p:sp>
        <p:nvSpPr>
          <p:cNvPr id="48" name="Text 33"/>
          <p:cNvSpPr/>
          <p:nvPr/>
        </p:nvSpPr>
        <p:spPr>
          <a:xfrm>
            <a:off x="640080" y="6455664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payment available on any plan  ·  Custom development quoted separately  ·  ₹15 per SMS verification</a:t>
            </a:r>
            <a:endParaRPr lang="en-US" sz="1100" dirty="0"/>
          </a:p>
        </p:txBody>
      </p:sp>
      <p:sp>
        <p:nvSpPr>
          <p:cNvPr id="49" name="Text 34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48640"/>
            <a:ext cx="685800" cy="685800"/>
          </a:xfrm>
          <a:prstGeom prst="ellipse">
            <a:avLst/>
          </a:prstGeom>
          <a:solidFill>
            <a:srgbClr val="1E2A38"/>
          </a:solidFill>
          <a:ln/>
        </p:spPr>
      </p:sp>
      <p:pic>
        <p:nvPicPr>
          <p:cNvPr id="3" name="Image 0" descr="/tmp/claude-0/-home-user/1f2658c4-1c46-56f1-a92d-e272a0c02ab5/scratchpad/pitch-deck/icons/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" y="704088"/>
            <a:ext cx="374904" cy="37490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508760" y="54864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Know the developer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640080" y="1234440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can read exactly how this platform was built and why, before you commit to anything.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640080" y="1783080"/>
            <a:ext cx="4114800" cy="4343400"/>
          </a:xfrm>
          <a:prstGeom prst="roundRect">
            <a:avLst>
              <a:gd name="adj" fmla="val 2667"/>
            </a:avLst>
          </a:prstGeom>
          <a:solidFill>
            <a:srgbClr val="1E2A38"/>
          </a:solidFill>
          <a:ln/>
        </p:spPr>
      </p:sp>
      <p:sp>
        <p:nvSpPr>
          <p:cNvPr id="7" name="Text 4"/>
          <p:cNvSpPr/>
          <p:nvPr/>
        </p:nvSpPr>
        <p:spPr>
          <a:xfrm>
            <a:off x="1005840" y="2103120"/>
            <a:ext cx="3383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Sourav Lahon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005840" y="253288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C2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Engineer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005840" y="280720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NIT Silchar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1005840" y="3264408"/>
            <a:ext cx="33832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B9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work directly with the person who designs, builds, and runs your platform — no agency layer, no ticket queue.</a:t>
            </a:r>
            <a:endParaRPr lang="en-US" sz="1150" dirty="0"/>
          </a:p>
        </p:txBody>
      </p:sp>
      <p:pic>
        <p:nvPicPr>
          <p:cNvPr id="11" name="Image 1" descr="/tmp/claude-0/-home-user/1f2658c4-1c46-56f1-a92d-e272a0c02ab5/scratchpad/pitch-deck/icons/phone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4197096"/>
            <a:ext cx="201168" cy="201168"/>
          </a:xfrm>
          <a:prstGeom prst="rect">
            <a:avLst/>
          </a:prstGeom>
        </p:spPr>
      </p:pic>
      <p:sp>
        <p:nvSpPr>
          <p:cNvPr id="12" name="Text 8">
            <a:hlinkClick r:id="rId3" tooltip=""/>
          </p:cNvPr>
          <p:cNvSpPr/>
          <p:nvPr/>
        </p:nvSpPr>
        <p:spPr>
          <a:xfrm>
            <a:off x="1325880" y="412394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+91 60010 98923</a:t>
            </a:r>
            <a:endParaRPr lang="en-US" sz="1150" dirty="0"/>
          </a:p>
        </p:txBody>
      </p:sp>
      <p:pic>
        <p:nvPicPr>
          <p:cNvPr id="13" name="Image 2" descr="/tmp/claude-0/-home-user/1f2658c4-1c46-56f1-a92d-e272a0c02ab5/scratchpad/pitch-deck/icons/mail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562856"/>
            <a:ext cx="201168" cy="201168"/>
          </a:xfrm>
          <a:prstGeom prst="rect">
            <a:avLst/>
          </a:prstGeom>
        </p:spPr>
      </p:pic>
      <p:sp>
        <p:nvSpPr>
          <p:cNvPr id="14" name="Text 9">
            <a:hlinkClick r:id="rId5" tooltip=""/>
          </p:cNvPr>
          <p:cNvSpPr/>
          <p:nvPr/>
        </p:nvSpPr>
        <p:spPr>
          <a:xfrm>
            <a:off x="1325880" y="448970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sourav@lahon.in</a:t>
            </a:r>
            <a:endParaRPr lang="en-US" sz="1150" dirty="0"/>
          </a:p>
        </p:txBody>
      </p:sp>
      <p:pic>
        <p:nvPicPr>
          <p:cNvPr id="15" name="Image 3" descr="/tmp/claude-0/-home-user/1f2658c4-1c46-56f1-a92d-e272a0c02ab5/scratchpad/pitch-deck/icons/globe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5840" y="4928616"/>
            <a:ext cx="201168" cy="201168"/>
          </a:xfrm>
          <a:prstGeom prst="rect">
            <a:avLst/>
          </a:prstGeom>
        </p:spPr>
      </p:pic>
      <p:sp>
        <p:nvSpPr>
          <p:cNvPr id="16" name="Text 10">
            <a:hlinkClick r:id="rId7" tooltip=""/>
          </p:cNvPr>
          <p:cNvSpPr/>
          <p:nvPr/>
        </p:nvSpPr>
        <p:spPr>
          <a:xfrm>
            <a:off x="1325880" y="485546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lahon.in</a:t>
            </a:r>
            <a:endParaRPr lang="en-US" sz="1150" dirty="0"/>
          </a:p>
        </p:txBody>
      </p:sp>
      <p:pic>
        <p:nvPicPr>
          <p:cNvPr id="17" name="Image 4" descr="/tmp/claude-0/-home-user/1f2658c4-1c46-56f1-a92d-e272a0c02ab5/scratchpad/pitch-deck/icons/linkedin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" y="5294376"/>
            <a:ext cx="201168" cy="201168"/>
          </a:xfrm>
          <a:prstGeom prst="rect">
            <a:avLst/>
          </a:prstGeom>
        </p:spPr>
      </p:pic>
      <p:sp>
        <p:nvSpPr>
          <p:cNvPr id="18" name="Text 11">
            <a:hlinkClick r:id="rId9" tooltip=""/>
          </p:cNvPr>
          <p:cNvSpPr/>
          <p:nvPr/>
        </p:nvSpPr>
        <p:spPr>
          <a:xfrm>
            <a:off x="1325880" y="522122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linkedin.com/in/lahoncs</a:t>
            </a:r>
            <a:endParaRPr lang="en-US" sz="1150" dirty="0"/>
          </a:p>
        </p:txBody>
      </p:sp>
      <p:pic>
        <p:nvPicPr>
          <p:cNvPr id="19" name="Image 5" descr="/tmp/claude-0/-home-user/1f2658c4-1c46-56f1-a92d-e272a0c02ab5/scratchpad/pitch-deck/icons/github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5840" y="5660136"/>
            <a:ext cx="201168" cy="201168"/>
          </a:xfrm>
          <a:prstGeom prst="rect">
            <a:avLst/>
          </a:prstGeom>
        </p:spPr>
      </p:pic>
      <p:sp>
        <p:nvSpPr>
          <p:cNvPr id="20" name="Text 12">
            <a:hlinkClick r:id="rId11" tooltip=""/>
          </p:cNvPr>
          <p:cNvSpPr/>
          <p:nvPr/>
        </p:nvSpPr>
        <p:spPr>
          <a:xfrm>
            <a:off x="1325880" y="5586984"/>
            <a:ext cx="3063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github.com/lahonsourav</a:t>
            </a:r>
            <a:endParaRPr lang="en-US" sz="1150" dirty="0"/>
          </a:p>
        </p:txBody>
      </p:sp>
      <p:sp>
        <p:nvSpPr>
          <p:cNvPr id="21" name="Shape 13"/>
          <p:cNvSpPr/>
          <p:nvPr/>
        </p:nvSpPr>
        <p:spPr>
          <a:xfrm>
            <a:off x="5074920" y="1783080"/>
            <a:ext cx="6473952" cy="1344168"/>
          </a:xfrm>
          <a:prstGeom prst="roundRect">
            <a:avLst>
              <a:gd name="adj" fmla="val 6803"/>
            </a:avLst>
          </a:prstGeom>
          <a:solidFill>
            <a:srgbClr val="F6F7F8"/>
          </a:solidFill>
          <a:ln/>
        </p:spPr>
      </p:sp>
      <p:sp>
        <p:nvSpPr>
          <p:cNvPr id="22" name="Text 14"/>
          <p:cNvSpPr/>
          <p:nvPr/>
        </p:nvSpPr>
        <p:spPr>
          <a:xfrm>
            <a:off x="5394960" y="1947672"/>
            <a:ext cx="5833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 to Digitalise Your Business, Entity, and Identity</a:t>
            </a:r>
            <a:endParaRPr lang="en-US" sz="1350" dirty="0"/>
          </a:p>
        </p:txBody>
      </p:sp>
      <p:sp>
        <p:nvSpPr>
          <p:cNvPr id="23" name="Text 15"/>
          <p:cNvSpPr/>
          <p:nvPr/>
        </p:nvSpPr>
        <p:spPr>
          <a:xfrm>
            <a:off x="5394960" y="2295144"/>
            <a:ext cx="58338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signboard and word of mouth no longer win the batch — written for owners, not engineers.</a:t>
            </a:r>
            <a:endParaRPr lang="en-US" sz="1050" dirty="0"/>
          </a:p>
        </p:txBody>
      </p:sp>
      <p:sp>
        <p:nvSpPr>
          <p:cNvPr id="24" name="Text 16">
            <a:hlinkClick r:id="rId12" tooltip=""/>
          </p:cNvPr>
          <p:cNvSpPr/>
          <p:nvPr/>
        </p:nvSpPr>
        <p:spPr>
          <a:xfrm>
            <a:off x="5394960" y="2770632"/>
            <a:ext cx="5833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1F6F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lahon.in/blog/why-digitalise-your-coaching-business</a:t>
            </a:r>
            <a:endParaRPr lang="en-US" sz="1000" dirty="0"/>
          </a:p>
        </p:txBody>
      </p:sp>
      <p:sp>
        <p:nvSpPr>
          <p:cNvPr id="25" name="Shape 17"/>
          <p:cNvSpPr/>
          <p:nvPr/>
        </p:nvSpPr>
        <p:spPr>
          <a:xfrm>
            <a:off x="5074920" y="3264408"/>
            <a:ext cx="6473952" cy="1344168"/>
          </a:xfrm>
          <a:prstGeom prst="roundRect">
            <a:avLst>
              <a:gd name="adj" fmla="val 6803"/>
            </a:avLst>
          </a:prstGeom>
          <a:solidFill>
            <a:srgbClr val="F6F7F8"/>
          </a:solidFill>
          <a:ln/>
        </p:spPr>
      </p:sp>
      <p:sp>
        <p:nvSpPr>
          <p:cNvPr id="26" name="Text 18"/>
          <p:cNvSpPr/>
          <p:nvPr/>
        </p:nvSpPr>
        <p:spPr>
          <a:xfrm>
            <a:off x="5394960" y="3429000"/>
            <a:ext cx="5833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Complete Coaching Center Management System</a:t>
            </a:r>
            <a:endParaRPr lang="en-US" sz="1350" dirty="0"/>
          </a:p>
        </p:txBody>
      </p:sp>
      <p:sp>
        <p:nvSpPr>
          <p:cNvPr id="27" name="Text 19"/>
          <p:cNvSpPr/>
          <p:nvPr/>
        </p:nvSpPr>
        <p:spPr>
          <a:xfrm>
            <a:off x="5394960" y="3776472"/>
            <a:ext cx="58338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and screen of this platform — website, dashboards, live classes, billing — explained end to end.</a:t>
            </a:r>
            <a:endParaRPr lang="en-US" sz="1050" dirty="0"/>
          </a:p>
        </p:txBody>
      </p:sp>
      <p:sp>
        <p:nvSpPr>
          <p:cNvPr id="28" name="Text 20">
            <a:hlinkClick r:id="rId13" tooltip=""/>
          </p:cNvPr>
          <p:cNvSpPr/>
          <p:nvPr/>
        </p:nvSpPr>
        <p:spPr>
          <a:xfrm>
            <a:off x="5394960" y="4251960"/>
            <a:ext cx="5833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1F6F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lahon.in/blog/coaching-center-management-system</a:t>
            </a:r>
            <a:endParaRPr lang="en-US" sz="1000" dirty="0"/>
          </a:p>
        </p:txBody>
      </p:sp>
      <p:sp>
        <p:nvSpPr>
          <p:cNvPr id="29" name="Shape 21"/>
          <p:cNvSpPr/>
          <p:nvPr/>
        </p:nvSpPr>
        <p:spPr>
          <a:xfrm>
            <a:off x="5074920" y="4745736"/>
            <a:ext cx="6473952" cy="1344168"/>
          </a:xfrm>
          <a:prstGeom prst="roundRect">
            <a:avLst>
              <a:gd name="adj" fmla="val 6803"/>
            </a:avLst>
          </a:prstGeom>
          <a:solidFill>
            <a:srgbClr val="F6F7F8"/>
          </a:solidFill>
          <a:ln/>
        </p:spPr>
      </p:sp>
      <p:sp>
        <p:nvSpPr>
          <p:cNvPr id="30" name="Text 22"/>
          <p:cNvSpPr/>
          <p:nvPr/>
        </p:nvSpPr>
        <p:spPr>
          <a:xfrm>
            <a:off x="5394960" y="4910328"/>
            <a:ext cx="583387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Success Point Gogamukh: The Full Technical Build</a:t>
            </a:r>
            <a:endParaRPr lang="en-US" sz="1350" dirty="0"/>
          </a:p>
        </p:txBody>
      </p:sp>
      <p:sp>
        <p:nvSpPr>
          <p:cNvPr id="31" name="Text 23"/>
          <p:cNvSpPr/>
          <p:nvPr/>
        </p:nvSpPr>
        <p:spPr>
          <a:xfrm>
            <a:off x="5394960" y="5257800"/>
            <a:ext cx="583387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engineering behind it: Next.js, Prisma and PostgreSQL, OTP onboarding, and live classes.</a:t>
            </a:r>
            <a:endParaRPr lang="en-US" sz="1050" dirty="0"/>
          </a:p>
        </p:txBody>
      </p:sp>
      <p:sp>
        <p:nvSpPr>
          <p:cNvPr id="32" name="Text 24">
            <a:hlinkClick r:id="rId14" tooltip=""/>
          </p:cNvPr>
          <p:cNvSpPr/>
          <p:nvPr/>
        </p:nvSpPr>
        <p:spPr>
          <a:xfrm>
            <a:off x="5394960" y="5733288"/>
            <a:ext cx="583387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1F6F6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lahon.in/blog/building-success-point-gogamukh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2A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84368" y="502920"/>
            <a:ext cx="822960" cy="822960"/>
          </a:xfrm>
          <a:prstGeom prst="ellipse">
            <a:avLst/>
          </a:prstGeom>
          <a:solidFill>
            <a:srgbClr val="1F6F6F"/>
          </a:solidFill>
          <a:ln/>
        </p:spPr>
      </p:sp>
      <p:pic>
        <p:nvPicPr>
          <p:cNvPr id="3" name="Image 0" descr="/tmp/claude-0/-home-user/1f2658c4-1c46-56f1-a92d-e272a0c02ab5/scratchpad/pitch-deck/icons/rock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85536" y="704088"/>
            <a:ext cx="420624" cy="42062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0" y="1417320"/>
            <a:ext cx="10362895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Let's build your platform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1920240" y="2212848"/>
            <a:ext cx="83210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B9C6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call to see if this fits your institute — no obligation, no generic sales pitch, just a straight look at what it'd take to get you live.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2346808" y="2971800"/>
            <a:ext cx="7498080" cy="1097280"/>
          </a:xfrm>
          <a:prstGeom prst="roundRect">
            <a:avLst>
              <a:gd name="adj" fmla="val 8333"/>
            </a:avLst>
          </a:prstGeom>
          <a:solidFill>
            <a:srgbClr val="F2C230"/>
          </a:solidFill>
          <a:ln/>
        </p:spPr>
      </p:sp>
      <p:sp>
        <p:nvSpPr>
          <p:cNvPr id="7" name="Text 4"/>
          <p:cNvSpPr/>
          <p:nvPr/>
        </p:nvSpPr>
        <p:spPr>
          <a:xfrm>
            <a:off x="2346808" y="3108960"/>
            <a:ext cx="7498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Would you like a live demo?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2575408" y="3474720"/>
            <a:ext cx="7040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1E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I'll walk you through the working platform end to end on a call — go live in a class, post an announcement, answer a doubt, and see the logs update.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3809848" y="4206240"/>
            <a:ext cx="4572000" cy="1691640"/>
          </a:xfrm>
          <a:prstGeom prst="roundRect">
            <a:avLst>
              <a:gd name="adj" fmla="val 5405"/>
            </a:avLst>
          </a:prstGeom>
          <a:solidFill>
            <a:srgbClr val="2A3A4D"/>
          </a:solidFill>
          <a:ln w="12700">
            <a:solidFill>
              <a:srgbClr val="3A4A5D"/>
            </a:solidFill>
            <a:prstDash val="solid"/>
          </a:ln>
        </p:spPr>
      </p:sp>
      <p:pic>
        <p:nvPicPr>
          <p:cNvPr id="10" name="Image 1" descr="/tmp/claude-0/-home-user/1f2658c4-1c46-56f1-a92d-e272a0c02ab5/scratchpad/pitch-deck/icons/phonego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2768" y="4517136"/>
            <a:ext cx="219456" cy="219456"/>
          </a:xfrm>
          <a:prstGeom prst="rect">
            <a:avLst/>
          </a:prstGeom>
        </p:spPr>
      </p:pic>
      <p:sp>
        <p:nvSpPr>
          <p:cNvPr id="11" name="Text 7">
            <a:hlinkClick r:id="rId3" tooltip=""/>
          </p:cNvPr>
          <p:cNvSpPr/>
          <p:nvPr/>
        </p:nvSpPr>
        <p:spPr>
          <a:xfrm>
            <a:off x="4678528" y="4462272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+91 60010 98923</a:t>
            </a:r>
            <a:endParaRPr lang="en-US" sz="1500" dirty="0"/>
          </a:p>
        </p:txBody>
      </p:sp>
      <p:pic>
        <p:nvPicPr>
          <p:cNvPr id="12" name="Image 2" descr="/tmp/claude-0/-home-user/1f2658c4-1c46-56f1-a92d-e272a0c02ab5/scratchpad/pitch-deck/icons/mail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12768" y="4992624"/>
            <a:ext cx="219456" cy="219456"/>
          </a:xfrm>
          <a:prstGeom prst="rect">
            <a:avLst/>
          </a:prstGeom>
        </p:spPr>
      </p:pic>
      <p:sp>
        <p:nvSpPr>
          <p:cNvPr id="13" name="Text 8">
            <a:hlinkClick r:id="rId5" tooltip=""/>
          </p:cNvPr>
          <p:cNvSpPr/>
          <p:nvPr/>
        </p:nvSpPr>
        <p:spPr>
          <a:xfrm>
            <a:off x="4678528" y="4937760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sourav@lahon.in</a:t>
            </a:r>
            <a:endParaRPr lang="en-US" sz="1500" dirty="0"/>
          </a:p>
        </p:txBody>
      </p:sp>
      <p:pic>
        <p:nvPicPr>
          <p:cNvPr id="14" name="Image 3" descr="/tmp/claude-0/-home-user/1f2658c4-1c46-56f1-a92d-e272a0c02ab5/scratchpad/pitch-deck/icons/globego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12768" y="5468112"/>
            <a:ext cx="219456" cy="219456"/>
          </a:xfrm>
          <a:prstGeom prst="rect">
            <a:avLst/>
          </a:prstGeom>
        </p:spPr>
      </p:pic>
      <p:sp>
        <p:nvSpPr>
          <p:cNvPr id="15" name="Text 9">
            <a:hlinkClick r:id="rId7" tooltip=""/>
          </p:cNvPr>
          <p:cNvSpPr/>
          <p:nvPr/>
        </p:nvSpPr>
        <p:spPr>
          <a:xfrm>
            <a:off x="4678528" y="5413248"/>
            <a:ext cx="1965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lahon.in</a:t>
            </a:r>
            <a:endParaRPr lang="en-US" sz="1500" dirty="0"/>
          </a:p>
        </p:txBody>
      </p:sp>
      <p:sp>
        <p:nvSpPr>
          <p:cNvPr id="16" name="Text 10">
            <a:hlinkClick r:id="rId8" tooltip=""/>
          </p:cNvPr>
          <p:cNvSpPr/>
          <p:nvPr/>
        </p:nvSpPr>
        <p:spPr>
          <a:xfrm>
            <a:off x="6735928" y="449884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u="sng" dirty="0">
                <a:solidFill>
                  <a:srgbClr val="F2C23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·  WhatsApp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914400" y="6080760"/>
            <a:ext cx="103628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8FA3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Point Gogamukh is live proof this works — yours could be next.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2026-08-06T16:01:53Z</dcterms:created>
  <dcterms:modified xsi:type="dcterms:W3CDTF">2026-08-06T16:01:53Z</dcterms:modified>
</cp:coreProperties>
</file>