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uccesspointgogamukh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image" Target="../media/image-14-5.png"/><Relationship Id="rId7" Type="http://schemas.openxmlformats.org/officeDocument/2006/relationships/image" Target="../media/image-14-5.png"/><Relationship Id="rId8" Type="http://schemas.openxmlformats.org/officeDocument/2006/relationships/image" Target="../media/image-14-5.png"/><Relationship Id="rId9" Type="http://schemas.openxmlformats.org/officeDocument/2006/relationships/image" Target="../media/image-14-5.png"/><Relationship Id="rId10" Type="http://schemas.openxmlformats.org/officeDocument/2006/relationships/image" Target="../media/image-14-1.png"/><Relationship Id="rId11" Type="http://schemas.openxmlformats.org/officeDocument/2006/relationships/image" Target="../media/image-14-1.png"/><Relationship Id="rId12" Type="http://schemas.openxmlformats.org/officeDocument/2006/relationships/image" Target="../media/image-14-1.png"/><Relationship Id="rId13" Type="http://schemas.openxmlformats.org/officeDocument/2006/relationships/image" Target="../media/image-14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tel:+916001098923" TargetMode="External"/><Relationship Id="rId5" Type="http://schemas.openxmlformats.org/officeDocument/2006/relationships/hyperlink" Target="mailto:sourav@lahon.in" TargetMode="External"/><Relationship Id="rId7" Type="http://schemas.openxmlformats.org/officeDocument/2006/relationships/hyperlink" Target="https://lahon.in" TargetMode="External"/><Relationship Id="rId9" Type="http://schemas.openxmlformats.org/officeDocument/2006/relationships/hyperlink" Target="https://www.linkedin.com/in/lahoncs/" TargetMode="External"/><Relationship Id="rId11" Type="http://schemas.openxmlformats.org/officeDocument/2006/relationships/hyperlink" Target="https://github.com/lahonsourav" TargetMode="External"/><Relationship Id="rId12" Type="http://schemas.openxmlformats.org/officeDocument/2006/relationships/hyperlink" Target="https://lahon.in/blog/why-digitalise-your-coaching-business" TargetMode="External"/><Relationship Id="rId13" Type="http://schemas.openxmlformats.org/officeDocument/2006/relationships/hyperlink" Target="https://lahon.in/blog/coaching-center-management-system" TargetMode="External"/><Relationship Id="rId14" Type="http://schemas.openxmlformats.org/officeDocument/2006/relationships/hyperlink" Target="https://lahon.in/blog/building-success-point-gogamukh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image" Target="../media/image-15-5.png"/><Relationship Id="rId10" Type="http://schemas.openxmlformats.org/officeDocument/2006/relationships/image" Target="../media/image-15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tel:+916001098923" TargetMode="External"/><Relationship Id="rId5" Type="http://schemas.openxmlformats.org/officeDocument/2006/relationships/hyperlink" Target="mailto:sourav@lahon.in" TargetMode="External"/><Relationship Id="rId7" Type="http://schemas.openxmlformats.org/officeDocument/2006/relationships/hyperlink" Target="https://lahon.in" TargetMode="External"/><Relationship Id="rId8" Type="http://schemas.openxmlformats.org/officeDocument/2006/relationships/hyperlink" Target="https://wa.me/916001098923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6" Type="http://schemas.openxmlformats.org/officeDocument/2006/relationships/image" Target="../media/image-16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LAHON.IN 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coaching center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business, not a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group.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website, live-class, and management platform for coaching centers and colleges — built, launched, and supported end to end.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software, built and run personally by Sourav Lahon  ·  lahon.in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06056" y="1179576"/>
            <a:ext cx="4270248" cy="454456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8" name="Image 0" descr="/tmp/claude-0/-home-user/1f2658c4-1c46-56f1-a92d-e272a0c02ab5/scratchpad/pitch-deck/image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4160520" cy="4434840"/>
          </a:xfrm>
          <a:prstGeom prst="rect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7360920" y="58064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u="sng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successpointgogamukh.com — live today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coaching center hits the same wall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teaching, invisible operations — growth stalls not because the coaching is bad, but because everything behind it is improvised.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6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749808" cy="74980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6" name="Image 0" descr="/tmp/claude-0/-home-user/1f2658c4-1c46-56f1-a92d-e272a0c02ab5/scratchpad/pitch-deck/icons/eye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074" y="2648834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41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online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74520" y="28620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comparing institutes on their phone at 10pm never find you, and never call.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6F7F8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468880"/>
            <a:ext cx="749808" cy="749808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11" name="Image 1" descr="/tmp/claude-0/-home-user/1f2658c4-1c46-56f1-a92d-e272a0c02ab5/scratchpad/pitch-deck/icons/scatte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34" y="2648834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441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scattered everywhere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98080" y="28620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Zoom link here, a WhatsApp group there, recordings uploaded somewhere else.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6F7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526280"/>
            <a:ext cx="749808" cy="74980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6" name="Image 2" descr="/tmp/claude-0/-home-user/1f2658c4-1c46-56f1-a92d-e272a0c02ab5/scratchpad/pitch-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74" y="4706234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98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eats the whole day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874520" y="49194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Enrollments, fee follow-ups, faculty coordination — all tracked by hand, in someone's head.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206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6F7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526280"/>
            <a:ext cx="749808" cy="749808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21" name="Image 3" descr="/tmp/claude-0/-home-user/1f2658c4-1c46-56f1-a92d-e272a0c02ab5/scratchpad/pitch-deck/icons/invo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634" y="4706234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98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record of anything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98080" y="491947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who's actually enrolled, who answered a student's doubt, or who changed a price.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Everything runs through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15087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website that wins admissions, live classes without third-party apps, a dashboard for every role, and a record of everything — one system, not five subscriptions.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66648" y="288036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9588" y="3246120"/>
            <a:ext cx="822960" cy="82296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6" name="Image 0" descr="/tmp/claude-0/-home-user/1f2658c4-1c46-56f1-a92d-e272a0c02ab5/scratchpad/pitch-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756" y="3447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648" y="4297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500" dirty="0"/>
          </a:p>
        </p:txBody>
      </p:sp>
      <p:pic>
        <p:nvPicPr>
          <p:cNvPr id="8" name="Image 1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312" y="3840480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03168" y="288036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66108" y="3246120"/>
            <a:ext cx="822960" cy="82296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11" name="Image 2" descr="/tmp/claude-0/-home-user/1f2658c4-1c46-56f1-a92d-e272a0c02ab5/scratchpad/pitch-deck/icons/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76" y="344728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03168" y="4297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Classes</a:t>
            </a:r>
            <a:endParaRPr lang="en-US" sz="1500" dirty="0"/>
          </a:p>
        </p:txBody>
      </p:sp>
      <p:pic>
        <p:nvPicPr>
          <p:cNvPr id="13" name="Image 3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840480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39688" y="288036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002628" y="3246120"/>
            <a:ext cx="822960" cy="82296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16" name="Image 4" descr="/tmp/claude-0/-home-user/1f2658c4-1c46-56f1-a92d-e272a0c02ab5/scratchpad/pitch-deck/icons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796" y="3447288"/>
            <a:ext cx="420624" cy="4206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39688" y="4297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500" dirty="0"/>
          </a:p>
        </p:txBody>
      </p:sp>
      <p:pic>
        <p:nvPicPr>
          <p:cNvPr id="18" name="Image 5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352" y="3840480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8976208" y="288036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9639148" y="3246120"/>
            <a:ext cx="822960" cy="82296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21" name="Image 6" descr="/tmp/claude-0/-home-user/1f2658c4-1c46-56f1-a92d-e272a0c02ab5/scratchpad/pitch-deck/icons/comment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316" y="3447288"/>
            <a:ext cx="420624" cy="4206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976208" y="4297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that follows is the live platform, in production today.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concept. A real platform, live today.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F6F7F8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5" name="Image 0" descr="/tmp/claude-0/-home-user/1f2658c4-1c46-56f1-a92d-e272a0c02ab5/scratchpad/pitch-deck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Point Gogamukh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Gogamukh, Dhemaji District, Assam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NEET, JEE, board-exam tuition (Classes IX–XII), and Assam government exam coaching (ADRE, SSC GD, Assam Police). Zero online presence before this platform.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46817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40280" y="472744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5840" y="5120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240280" y="51663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courses live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05840" y="55595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240280" y="560527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enrollments tracked, none on paper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17336" y="1408176"/>
            <a:ext cx="5458968" cy="4818888"/>
          </a:xfrm>
          <a:prstGeom prst="roundRect">
            <a:avLst>
              <a:gd name="adj" fmla="val 1518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6" name="Image 1" descr="/tmp/claude-0/-home-user/1f2658c4-1c46-56f1-a92d-e272a0c02ab5/scratchpad/pitch-deck/images/course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349240" cy="4709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4980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website that actually wins admissions</a:t>
            </a:r>
            <a:endParaRPr lang="en-US" sz="2600" dirty="0"/>
          </a:p>
        </p:txBody>
      </p:sp>
      <p:pic>
        <p:nvPicPr>
          <p:cNvPr id="5" name="Image 1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9928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6184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badges, program cards, and transparent fees — no “call for pricing”</a:t>
            </a:r>
            <a:endParaRPr lang="en-US" sz="1300" dirty="0"/>
          </a:p>
        </p:txBody>
      </p:sp>
      <p:pic>
        <p:nvPicPr>
          <p:cNvPr id="7" name="Image 2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8296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7685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WhatsApp button, click-to-call, embedded map</a:t>
            </a:r>
            <a:endParaRPr lang="en-US" sz="1300" dirty="0"/>
          </a:p>
        </p:txBody>
      </p:sp>
      <p:pic>
        <p:nvPicPr>
          <p:cNvPr id="9" name="Image 3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26664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293522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find any course or subject by name from the header</a:t>
            </a:r>
            <a:endParaRPr lang="en-US" sz="1300" dirty="0"/>
          </a:p>
        </p:txBody>
      </p:sp>
      <p:pic>
        <p:nvPicPr>
          <p:cNvPr id="11" name="Image 4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85032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59359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SEO — metadata, JSON-LD, sitemap — so Google can actually find you</a:t>
            </a:r>
            <a:endParaRPr lang="en-US" sz="1300" dirty="0"/>
          </a:p>
        </p:txBody>
      </p:sp>
      <p:pic>
        <p:nvPicPr>
          <p:cNvPr id="13" name="Image 5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4340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1560" y="4251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an app on Android and iOS, works offline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6117336" y="1636776"/>
            <a:ext cx="545896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6" name="Image 6" descr="/tmp/claude-0/-home-user/1f2658c4-1c46-56f1-a92d-e272a0c02ab5/scratchpad/pitch-deck/image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691640"/>
            <a:ext cx="5349240" cy="44805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1636776"/>
            <a:ext cx="545896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3" name="Image 0" descr="/tmp/claude-0/-home-user/1f2658c4-1c46-56f1-a92d-e272a0c02ab5/scratchpad/pitch-deck/images/go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3492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55080" y="59436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5" name="Image 1" descr="/tmp/claude-0/-home-user/1f2658c4-1c46-56f1-a92d-e272a0c02ab5/scratchpad/pitch-deck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749808"/>
            <a:ext cx="374904" cy="374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23760" y="5029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classes without Zoom or YouTube subscriptions</a:t>
            </a:r>
            <a:endParaRPr lang="en-US" sz="2200" dirty="0"/>
          </a:p>
        </p:txBody>
      </p:sp>
      <p:pic>
        <p:nvPicPr>
          <p:cNvPr id="7" name="Image 2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09928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20840" y="16184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in one click: pick course → subject → chapter → topic</a:t>
            </a:r>
            <a:endParaRPr lang="en-US" sz="1250" dirty="0"/>
          </a:p>
        </p:txBody>
      </p:sp>
      <p:pic>
        <p:nvPicPr>
          <p:cNvPr id="9" name="Image 3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8716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20840" y="23957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 one class to reach students in other batches too</a:t>
            </a:r>
            <a:endParaRPr lang="en-US" sz="1250" dirty="0"/>
          </a:p>
        </p:txBody>
      </p:sp>
      <p:pic>
        <p:nvPicPr>
          <p:cNvPr id="11" name="Image 4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6440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720840" y="31729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the class cuts off every watching student automatically</a:t>
            </a:r>
            <a:endParaRPr lang="en-US" sz="1250" dirty="0"/>
          </a:p>
        </p:txBody>
      </p:sp>
      <p:pic>
        <p:nvPicPr>
          <p:cNvPr id="13" name="Image 5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04164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720840" y="39502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is logged for attendance — a real record, not a guess</a:t>
            </a:r>
            <a:endParaRPr lang="en-US" sz="1250" dirty="0"/>
          </a:p>
        </p:txBody>
      </p:sp>
      <p:pic>
        <p:nvPicPr>
          <p:cNvPr id="15" name="Image 6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818888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720840" y="47274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watermarked with the viewer's identity</a:t>
            </a:r>
            <a:endParaRPr lang="en-US" sz="1250" dirty="0"/>
          </a:p>
        </p:txBody>
      </p:sp>
      <p:sp>
        <p:nvSpPr>
          <p:cNvPr id="17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gets exactly what they need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four dashboards — nobody sees more than they need 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7152" y="1819656"/>
            <a:ext cx="2715768" cy="2446934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7" name="Image 1" descr="/tmp/claude-0/-home-user/1f2658c4-1c46-56f1-a92d-e272a0c02ab5/scratchpad/pitch-deck/images/student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6" y="1874520"/>
            <a:ext cx="2606040" cy="23372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2016" y="432145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82016" y="463235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courses, live classes, questions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34360" y="1819656"/>
            <a:ext cx="2715768" cy="2446934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1" name="Image 2" descr="/tmp/claude-0/-home-user/1f2658c4-1c46-56f1-a92d-e272a0c02ab5/scratchpad/pitch-deck/images/faculty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24" y="1874520"/>
            <a:ext cx="2606040" cy="23372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9224" y="432145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389224" y="463235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subjects, students, materials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41568" y="1819656"/>
            <a:ext cx="2715768" cy="2446934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5" name="Image 3" descr="/tmp/claude-0/-home-user/1f2658c4-1c46-56f1-a92d-e272a0c02ab5/scratchpad/pitch-deck/images/admin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32" y="1874520"/>
            <a:ext cx="2606040" cy="23372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96432" y="432145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196432" y="463235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pricing, enrollments, staff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948776" y="1819656"/>
            <a:ext cx="2715768" cy="2446934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9" name="Image 4" descr="/tmp/claude-0/-home-user/1f2658c4-1c46-56f1-a92d-e272a0c02ab5/scratchpad/pitch-deck/images/master-over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640" y="1874520"/>
            <a:ext cx="2606040" cy="23372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03640" y="432145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9003640" y="463235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admin can do, plus billing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course, its own space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hunt through chats for this — each enrolled course carries its own dashboard, recordings, materials, and doubts.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" y="1728216"/>
            <a:ext cx="5458968" cy="3447288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7" name="Image 1" descr="/tmp/claude-0/-home-user/1f2658c4-1c46-56f1-a92d-e272a0c02ab5/scratchpad/pitch-deck/images/student-dashboard-l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49240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349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Dashboard: enrolled courses, live classes, and quick links to everything else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163056" y="1728216"/>
            <a:ext cx="5458968" cy="3447288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0" name="Image 2" descr="/tmp/claude-0/-home-user/1f2658c4-1c46-56f1-a92d-e272a0c02ab5/scratchpad/pitch-deck/images/course-materials-ques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5349240" cy="3337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5349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Materials: recordings and files, with Ask Question embedded right below — scoped to that course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 and doubts, built in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“did everyone see this” over WhatsApp, and no more doubts that vanish into a group chat.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" y="1728216"/>
            <a:ext cx="5458968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7" name="Image 1" descr="/tmp/claude-0/-home-user/1f2658c4-1c46-56f1-a92d-e272a0c02ab5/scratchpad/pitch-deck/images/admin-announce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4924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8932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Announcements: five audience options, replies, and 👍 reactions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163056" y="1728216"/>
            <a:ext cx="5458968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10" name="Image 2" descr="/tmp/claude-0/-home-user/1f2658c4-1c46-56f1-a92d-e272a0c02ab5/scratchpad/pitch-deck/images/ask-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5349240" cy="3977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598932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Question: a social-style Q&amp;A feed with ✅/❌ answer reactions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17336" y="1636776"/>
            <a:ext cx="545896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pic>
        <p:nvPicPr>
          <p:cNvPr id="3" name="Image 0" descr="/tmp/claude-0/-home-user/1f2658c4-1c46-56f1-a92d-e272a0c02ab5/scratchpad/pitch-deck/images/admin-login-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91640"/>
            <a:ext cx="53492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9436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5" name="Image 1" descr="/tmp/claude-0/-home-user/1f2658c4-1c46-56f1-a92d-e272a0c02ab5/scratchpad/pitch-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749808"/>
            <a:ext cx="374904" cy="374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594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action, logged automatically</a:t>
            </a:r>
            <a:endParaRPr lang="en-US" sz="2400" dirty="0"/>
          </a:p>
        </p:txBody>
      </p:sp>
      <p:pic>
        <p:nvPicPr>
          <p:cNvPr id="7" name="Image 2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9928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16184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 audit log of every price, faculty, and enrollment change</a:t>
            </a:r>
            <a:endParaRPr lang="en-US" sz="1250" dirty="0"/>
          </a:p>
        </p:txBody>
      </p:sp>
      <p:pic>
        <p:nvPicPr>
          <p:cNvPr id="9" name="Image 3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7860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24871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activity by device and location, for every OTP and password attempt</a:t>
            </a:r>
            <a:endParaRPr lang="en-US" sz="1250" dirty="0"/>
          </a:p>
        </p:txBody>
      </p:sp>
      <p:pic>
        <p:nvPicPr>
          <p:cNvPr id="11" name="Image 4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472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3558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verified once, then a password — no SMS cost on every login</a:t>
            </a:r>
            <a:endParaRPr lang="en-US" sz="1250" dirty="0"/>
          </a:p>
        </p:txBody>
      </p:sp>
      <p:pic>
        <p:nvPicPr>
          <p:cNvPr id="13" name="Image 5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596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1560" y="42245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forgot-password, no admin has to get involved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how you actually run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an off-the-shelf product you bend your institute around. Everything below has been built or can be — tell me how you work, and it gets built that way.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2308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7" name="Shape 4"/>
          <p:cNvSpPr/>
          <p:nvPr/>
        </p:nvSpPr>
        <p:spPr>
          <a:xfrm>
            <a:off x="888340" y="214884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8" name="Image 1" descr="/tmp/claude-0/-home-user/1f2658c4-1c46-56f1-a92d-e272a0c02ab5/scratchpad/pitch-deck/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00" y="22860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2428" y="21671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&amp; grievances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88340" y="280720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 parents raise an issue privately; staff track it through to resolution, with a record.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81348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12" name="Shape 8"/>
          <p:cNvSpPr/>
          <p:nvPr/>
        </p:nvSpPr>
        <p:spPr>
          <a:xfrm>
            <a:off x="4637380" y="214884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3" name="Image 2" descr="/tmp/claude-0/-home-user/1f2658c4-1c46-56f1-a92d-e272a0c02ab5/scratchpad/pitch-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540" y="22860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1468" y="21671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leave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37380" y="280720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per class, flag shortfalls early, and let faculty apply for leave in the system.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30388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386420" y="214884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8" name="Image 3" descr="/tmp/claude-0/-home-user/1f2658c4-1c46-56f1-a92d-e272a0c02ab5/scratchpad/pitch-deck/icons/invo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580" y="228600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0508" y="21671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installments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86420" y="280720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paid, who is due, automatic reminders — instead of a register and phone calls.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32308" y="4069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22" name="Shape 16"/>
          <p:cNvSpPr/>
          <p:nvPr/>
        </p:nvSpPr>
        <p:spPr>
          <a:xfrm>
            <a:off x="888340" y="434340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23" name="Image 4" descr="/tmp/claude-0/-home-user/1f2658c4-1c46-56f1-a92d-e272a0c02ab5/scratchpad/pitch-deck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00" y="44805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92428" y="4361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report cards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88340" y="500176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test scores, publish results to students, and show progress over the year.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81348" y="4069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27" name="Shape 20"/>
          <p:cNvSpPr/>
          <p:nvPr/>
        </p:nvSpPr>
        <p:spPr>
          <a:xfrm>
            <a:off x="4637380" y="434340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28" name="Image 5" descr="/tmp/claude-0/-home-user/1f2658c4-1c46-56f1-a92d-e272a0c02ab5/scratchpad/pitch-deck/icons/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540" y="448056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1468" y="4361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access &amp; alerts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37380" y="500176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view of attendance, fees, and results, with SMS or push for anything urgent.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130388" y="4069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6F7F8"/>
          </a:solidFill>
          <a:ln/>
        </p:spPr>
      </p:sp>
      <p:sp>
        <p:nvSpPr>
          <p:cNvPr id="32" name="Shape 24"/>
          <p:cNvSpPr/>
          <p:nvPr/>
        </p:nvSpPr>
        <p:spPr>
          <a:xfrm>
            <a:off x="8386420" y="434340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3" name="Image 6" descr="/tmp/claude-0/-home-user/1f2658c4-1c46-56f1-a92d-e272a0c02ab5/scratchpad/pitch-deck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580" y="4480560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90508" y="4361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Staff, roles &amp; payroll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86420" y="5001768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records, staff attendance, and finer permissions than the four standard roles.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specific to your institute — if you can describe it, it can be built in.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actually changes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2600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4140" y="2331720"/>
            <a:ext cx="731520" cy="73152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5" name="Image 0" descr="/tmp/claude-0/-home-user/1f2658c4-1c46-56f1-a92d-e272a0c02ab5/scratchpad/pitch-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020" y="2514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5480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new families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1200" y="406908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and converts visitors who’d never have called otherwise.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53232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4772" y="2331720"/>
            <a:ext cx="731520" cy="73152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10" name="Image 1" descr="/tmp/claude-0/-home-user/1f2658c4-1c46-56f1-a92d-e272a0c02ab5/scratchpad/pitch-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52" y="2514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6112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back every week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81832" y="406908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Enrollments, pricing, and faculty changes take minutes, not phone calls.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23864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15404" y="2331720"/>
            <a:ext cx="731520" cy="73152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15" name="Image 2" descr="/tmp/claude-0/-home-user/1f2658c4-1c46-56f1-a92d-e272a0c02ab5/scratchpad/pitch-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284" y="25146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6744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falls through the cracks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52464" y="406908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price change, and doubt is tracked automatically.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9449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86036" y="2331720"/>
            <a:ext cx="731520" cy="731520"/>
          </a:xfrm>
          <a:prstGeom prst="ellipse">
            <a:avLst/>
          </a:prstGeom>
          <a:solidFill>
            <a:srgbClr val="F2C230"/>
          </a:solidFill>
          <a:ln/>
        </p:spPr>
      </p:sp>
      <p:pic>
        <p:nvPicPr>
          <p:cNvPr id="20" name="Image 3" descr="/tmp/claude-0/-home-user/1f2658c4-1c46-56f1-a92d-e272a0c02ab5/scratchpad/pitch-deck/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916" y="25146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7376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four roles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223096" y="406908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admins, and the owner each get their own view of it.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build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from first call to a platform your students are actually using.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7802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D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55268" y="2377440"/>
            <a:ext cx="914400" cy="914400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6" name="Image 0" descr="/tmp/claude-0/-home-user/1f2658c4-1c46-56f1-a92d-e272a0c02ab5/scratchpad/pitch-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724" y="25968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3520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9468" y="39502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map your courses, batches, and what “done” looks like for you.</a:t>
            </a:r>
            <a:endParaRPr lang="en-US" sz="1100" dirty="0"/>
          </a:p>
        </p:txBody>
      </p:sp>
      <p:pic>
        <p:nvPicPr>
          <p:cNvPr id="9" name="Image 1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912" y="27066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6694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D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244188" y="2377440"/>
            <a:ext cx="914400" cy="9144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2" name="Image 2" descr="/tmp/claude-0/-home-user/1f2658c4-1c46-56f1-a92d-e272a0c02ab5/scratchpad/pitch-deck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644" y="259689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66948" y="3520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58388" y="39502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site, dashboards, and live-class flow, built against your real content.</a:t>
            </a:r>
            <a:endParaRPr lang="en-US" sz="1100" dirty="0"/>
          </a:p>
        </p:txBody>
      </p:sp>
      <p:pic>
        <p:nvPicPr>
          <p:cNvPr id="15" name="Image 3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27066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5586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D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033108" y="2377440"/>
            <a:ext cx="914400" cy="914400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18" name="Image 4" descr="/tmp/claude-0/-home-user/1f2658c4-1c46-56f1-a92d-e272a0c02ab5/scratchpad/pitch-deck/icons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564" y="259689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55868" y="3520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347308" y="39502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your own domain, branding, and a working admissions funnel.</a:t>
            </a:r>
            <a:endParaRPr lang="en-US" sz="1100" dirty="0"/>
          </a:p>
        </p:txBody>
      </p:sp>
      <p:pic>
        <p:nvPicPr>
          <p:cNvPr id="21" name="Image 5" descr="/tmp/claude-0/-home-user/1f2658c4-1c46-56f1-a92d-e272a0c02ab5/scratchpad/pitch-deck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6752" y="270662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04478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D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9822028" y="2377440"/>
            <a:ext cx="914400" cy="9144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24" name="Image 6" descr="/tmp/claude-0/-home-user/1f2658c4-1c46-56f1-a92d-e272a0c02ab5/scratchpad/pitch-deck/icons/heads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1484" y="259689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44788" y="3520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136228" y="39502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the person who built it, not a ticket queue.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how much you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year includes full setup — renewals cost less. Every tier is configured with your courses and branding.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32308" y="1874520"/>
            <a:ext cx="3429000" cy="4069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6628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06628" y="260604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found, get called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6628" y="294436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₹20,000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year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06628" y="3401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₹12,000 / year · ₹1,000 / month</a:t>
            </a:r>
            <a:endParaRPr lang="en-US" sz="950" dirty="0"/>
          </a:p>
        </p:txBody>
      </p:sp>
      <p:pic>
        <p:nvPicPr>
          <p:cNvPr id="9" name="Image 0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36941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9236" y="3621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 with SEO</a:t>
            </a:r>
            <a:endParaRPr lang="en-US" sz="1100" dirty="0"/>
          </a:p>
        </p:txBody>
      </p:sp>
      <p:pic>
        <p:nvPicPr>
          <p:cNvPr id="11" name="Image 1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28" y="41239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9236" y="4050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 &amp; search</a:t>
            </a:r>
            <a:endParaRPr lang="en-US" sz="1100" dirty="0"/>
          </a:p>
        </p:txBody>
      </p:sp>
      <p:pic>
        <p:nvPicPr>
          <p:cNvPr id="13" name="Image 2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8" y="455371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9236" y="4480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click-to-call</a:t>
            </a:r>
            <a:endParaRPr lang="en-US" sz="1100" dirty="0"/>
          </a:p>
        </p:txBody>
      </p:sp>
      <p:pic>
        <p:nvPicPr>
          <p:cNvPr id="15" name="Image 3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28" y="49834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9236" y="4910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381348" y="173736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318608" y="1965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19" name="Text 13"/>
          <p:cNvSpPr/>
          <p:nvPr/>
        </p:nvSpPr>
        <p:spPr>
          <a:xfrm>
            <a:off x="5318608" y="1965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655668" y="239572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+ Dashboards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4655668" y="28072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operation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55668" y="314553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₹60,000</a:t>
            </a:r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year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4655668" y="36027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₹36,000 / year · ₹3,000 / month</a:t>
            </a:r>
            <a:endParaRPr lang="en-US" sz="950" dirty="0"/>
          </a:p>
        </p:txBody>
      </p:sp>
      <p:pic>
        <p:nvPicPr>
          <p:cNvPr id="24" name="Image 4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68" y="3895344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48276" y="3822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of the Website plan</a:t>
            </a:r>
            <a:endParaRPr lang="en-US" sz="1100" dirty="0"/>
          </a:p>
        </p:txBody>
      </p:sp>
      <p:pic>
        <p:nvPicPr>
          <p:cNvPr id="26" name="Image 5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668" y="4325112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48276" y="4251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faculty / admin dashboards</a:t>
            </a:r>
            <a:endParaRPr lang="en-US" sz="1100" dirty="0"/>
          </a:p>
        </p:txBody>
      </p:sp>
      <p:pic>
        <p:nvPicPr>
          <p:cNvPr id="28" name="Image 6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5668" y="475488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48276" y="46817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&amp; recordings</a:t>
            </a:r>
            <a:endParaRPr lang="en-US" sz="1100" dirty="0"/>
          </a:p>
        </p:txBody>
      </p:sp>
      <p:pic>
        <p:nvPicPr>
          <p:cNvPr id="30" name="Image 7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5668" y="5184648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948276" y="51114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Ask Question &amp; push notifications</a:t>
            </a:r>
            <a:endParaRPr lang="en-US" sz="1100" dirty="0"/>
          </a:p>
        </p:txBody>
      </p:sp>
      <p:pic>
        <p:nvPicPr>
          <p:cNvPr id="32" name="Image 8" descr="/tmp/claude-0/-home-user/1f2658c4-1c46-56f1-a92d-e272a0c02ab5/scratchpad/pitch-deck/icons/check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5668" y="561441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948276" y="554126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tracking, audit log &amp; login activity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8130388" y="1874520"/>
            <a:ext cx="3429000" cy="4069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8">
                <a:alpha val="18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8404708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Platform + Custom</a:t>
            </a:r>
            <a:endParaRPr lang="en-US" sz="1900" dirty="0"/>
          </a:p>
        </p:txBody>
      </p:sp>
      <p:sp>
        <p:nvSpPr>
          <p:cNvPr id="36" name="Text 25"/>
          <p:cNvSpPr/>
          <p:nvPr/>
        </p:nvSpPr>
        <p:spPr>
          <a:xfrm>
            <a:off x="8404708" y="260604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your workflow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8404708" y="294436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₹90,000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year</a:t>
            </a:r>
            <a:endParaRPr lang="en-US" sz="2600" dirty="0"/>
          </a:p>
        </p:txBody>
      </p:sp>
      <p:sp>
        <p:nvSpPr>
          <p:cNvPr id="38" name="Text 27"/>
          <p:cNvSpPr/>
          <p:nvPr/>
        </p:nvSpPr>
        <p:spPr>
          <a:xfrm>
            <a:off x="8404708" y="3401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₹54,000 / year · ₹4,500 / month</a:t>
            </a:r>
            <a:endParaRPr lang="en-US" sz="950" dirty="0"/>
          </a:p>
        </p:txBody>
      </p:sp>
      <p:pic>
        <p:nvPicPr>
          <p:cNvPr id="39" name="Image 9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708" y="369417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697316" y="36210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Website + Dashboards</a:t>
            </a:r>
            <a:endParaRPr lang="en-US" sz="1100" dirty="0"/>
          </a:p>
        </p:txBody>
      </p:sp>
      <p:pic>
        <p:nvPicPr>
          <p:cNvPr id="41" name="Image 10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708" y="4123944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697316" y="4050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features built for you</a:t>
            </a:r>
            <a:endParaRPr lang="en-US" sz="1100" dirty="0"/>
          </a:p>
        </p:txBody>
      </p:sp>
      <p:pic>
        <p:nvPicPr>
          <p:cNvPr id="43" name="Image 11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4708" y="4553712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8697316" y="4480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Complaints, attendance, fees, report cards</a:t>
            </a:r>
            <a:endParaRPr lang="en-US" sz="1100" dirty="0"/>
          </a:p>
        </p:txBody>
      </p:sp>
      <p:pic>
        <p:nvPicPr>
          <p:cNvPr id="45" name="Image 12" descr="/tmp/claude-0/-home-user/1f2658c4-1c46-56f1-a92d-e272a0c02ab5/scratchpad/pitch-deck/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4708" y="4983480"/>
            <a:ext cx="182880" cy="18288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697316" y="4910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features maintained &amp; supported</a:t>
            </a:r>
            <a:endParaRPr lang="en-US" sz="1100" dirty="0"/>
          </a:p>
        </p:txBody>
      </p:sp>
      <p:sp>
        <p:nvSpPr>
          <p:cNvPr id="47" name="Text 32"/>
          <p:cNvSpPr/>
          <p:nvPr/>
        </p:nvSpPr>
        <p:spPr>
          <a:xfrm>
            <a:off x="640080" y="62179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includes up to 150 active students — ₹150 per student / year beyond that.</a:t>
            </a:r>
            <a:endParaRPr lang="en-US" sz="1100" dirty="0"/>
          </a:p>
        </p:txBody>
      </p:sp>
      <p:sp>
        <p:nvSpPr>
          <p:cNvPr id="48" name="Text 33"/>
          <p:cNvSpPr/>
          <p:nvPr/>
        </p:nvSpPr>
        <p:spPr>
          <a:xfrm>
            <a:off x="640080" y="64556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 available on any plan  ·  Custom development quoted separately  ·  ₹15 per SMS verification</a:t>
            </a:r>
            <a:endParaRPr lang="en-US" sz="1100" dirty="0"/>
          </a:p>
        </p:txBody>
      </p:sp>
      <p:sp>
        <p:nvSpPr>
          <p:cNvPr id="49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3" name="Image 0" descr="/tmp/claude-0/-home-user/1f2658c4-1c46-56f1-a92d-e272a0c02ab5/scratchpad/pitch-deck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developer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exactly how this platform was built and why, before you commit to anything.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114800" cy="4343400"/>
          </a:xfrm>
          <a:prstGeom prst="roundRect">
            <a:avLst>
              <a:gd name="adj" fmla="val 2667"/>
            </a:avLst>
          </a:prstGeom>
          <a:solidFill>
            <a:srgbClr val="1E2A38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03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Sourav Lahon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532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807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NIT Silchar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326440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 directly with the person who designs, builds, and runs your platform — no agency layer, no ticket queue.</a:t>
            </a:r>
            <a:endParaRPr lang="en-US" sz="1150" dirty="0"/>
          </a:p>
        </p:txBody>
      </p:sp>
      <p:pic>
        <p:nvPicPr>
          <p:cNvPr id="11" name="Image 1" descr="/tmp/claude-0/-home-user/1f2658c4-1c46-56f1-a92d-e272a0c02ab5/scratchpad/pitch-deck/icons/phone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197096"/>
            <a:ext cx="201168" cy="201168"/>
          </a:xfrm>
          <a:prstGeom prst="rect">
            <a:avLst/>
          </a:prstGeom>
        </p:spPr>
      </p:pic>
      <p:sp>
        <p:nvSpPr>
          <p:cNvPr id="12" name="Text 8">
            <a:hlinkClick r:id="rId3" tooltip=""/>
          </p:cNvPr>
          <p:cNvSpPr/>
          <p:nvPr/>
        </p:nvSpPr>
        <p:spPr>
          <a:xfrm>
            <a:off x="1325880" y="4123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+91 60010 98923</a:t>
            </a:r>
            <a:endParaRPr lang="en-US" sz="1150" dirty="0"/>
          </a:p>
        </p:txBody>
      </p:sp>
      <p:pic>
        <p:nvPicPr>
          <p:cNvPr id="13" name="Image 2" descr="/tmp/claude-0/-home-user/1f2658c4-1c46-56f1-a92d-e272a0c02ab5/scratchpad/pitch-deck/icons/mail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62856"/>
            <a:ext cx="201168" cy="201168"/>
          </a:xfrm>
          <a:prstGeom prst="rect">
            <a:avLst/>
          </a:prstGeom>
        </p:spPr>
      </p:pic>
      <p:sp>
        <p:nvSpPr>
          <p:cNvPr id="14" name="Text 9">
            <a:hlinkClick r:id="rId5" tooltip=""/>
          </p:cNvPr>
          <p:cNvSpPr/>
          <p:nvPr/>
        </p:nvSpPr>
        <p:spPr>
          <a:xfrm>
            <a:off x="1325880" y="44897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sourav@lahon.in</a:t>
            </a:r>
            <a:endParaRPr lang="en-US" sz="1150" dirty="0"/>
          </a:p>
        </p:txBody>
      </p:sp>
      <p:pic>
        <p:nvPicPr>
          <p:cNvPr id="15" name="Image 3" descr="/tmp/claude-0/-home-user/1f2658c4-1c46-56f1-a92d-e272a0c02ab5/scratchpad/pitch-deck/icons/globe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928616"/>
            <a:ext cx="201168" cy="201168"/>
          </a:xfrm>
          <a:prstGeom prst="rect">
            <a:avLst/>
          </a:prstGeom>
        </p:spPr>
      </p:pic>
      <p:sp>
        <p:nvSpPr>
          <p:cNvPr id="16" name="Text 10">
            <a:hlinkClick r:id="rId7" tooltip=""/>
          </p:cNvPr>
          <p:cNvSpPr/>
          <p:nvPr/>
        </p:nvSpPr>
        <p:spPr>
          <a:xfrm>
            <a:off x="1325880" y="48554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lahon.in</a:t>
            </a:r>
            <a:endParaRPr lang="en-US" sz="1150" dirty="0"/>
          </a:p>
        </p:txBody>
      </p:sp>
      <p:pic>
        <p:nvPicPr>
          <p:cNvPr id="17" name="Image 4" descr="/tmp/claude-0/-home-user/1f2658c4-1c46-56f1-a92d-e272a0c02ab5/scratchpad/pitch-deck/icons/linked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294376"/>
            <a:ext cx="201168" cy="201168"/>
          </a:xfrm>
          <a:prstGeom prst="rect">
            <a:avLst/>
          </a:prstGeom>
        </p:spPr>
      </p:pic>
      <p:sp>
        <p:nvSpPr>
          <p:cNvPr id="18" name="Text 11">
            <a:hlinkClick r:id="rId9" tooltip=""/>
          </p:cNvPr>
          <p:cNvSpPr/>
          <p:nvPr/>
        </p:nvSpPr>
        <p:spPr>
          <a:xfrm>
            <a:off x="1325880" y="52212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linkedin.com/in/lahoncs</a:t>
            </a:r>
            <a:endParaRPr lang="en-US" sz="1150" dirty="0"/>
          </a:p>
        </p:txBody>
      </p:sp>
      <p:pic>
        <p:nvPicPr>
          <p:cNvPr id="19" name="Image 5" descr="/tmp/claude-0/-home-user/1f2658c4-1c46-56f1-a92d-e272a0c02ab5/scratchpad/pitch-deck/icons/githu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660136"/>
            <a:ext cx="201168" cy="201168"/>
          </a:xfrm>
          <a:prstGeom prst="rect">
            <a:avLst/>
          </a:prstGeom>
        </p:spPr>
      </p:pic>
      <p:sp>
        <p:nvSpPr>
          <p:cNvPr id="20" name="Text 12">
            <a:hlinkClick r:id="rId11" tooltip=""/>
          </p:cNvPr>
          <p:cNvSpPr/>
          <p:nvPr/>
        </p:nvSpPr>
        <p:spPr>
          <a:xfrm>
            <a:off x="1325880" y="5586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github.com/lahonsourav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074920" y="1783080"/>
            <a:ext cx="6473952" cy="1344168"/>
          </a:xfrm>
          <a:prstGeom prst="roundRect">
            <a:avLst>
              <a:gd name="adj" fmla="val 6803"/>
            </a:avLst>
          </a:prstGeom>
          <a:solidFill>
            <a:srgbClr val="F6F7F8"/>
          </a:solidFill>
          <a:ln/>
        </p:spPr>
      </p:sp>
      <p:sp>
        <p:nvSpPr>
          <p:cNvPr id="22" name="Text 14"/>
          <p:cNvSpPr/>
          <p:nvPr/>
        </p:nvSpPr>
        <p:spPr>
          <a:xfrm>
            <a:off x="5394960" y="1947672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to Digitalise Your Business, Entity, and Identity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394960" y="2295144"/>
            <a:ext cx="5833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signboard and word of mouth no longer win the batch — written for owners, not engineers.</a:t>
            </a:r>
            <a:endParaRPr lang="en-US" sz="1050" dirty="0"/>
          </a:p>
        </p:txBody>
      </p:sp>
      <p:sp>
        <p:nvSpPr>
          <p:cNvPr id="24" name="Text 16">
            <a:hlinkClick r:id="rId12" tooltip=""/>
          </p:cNvPr>
          <p:cNvSpPr/>
          <p:nvPr/>
        </p:nvSpPr>
        <p:spPr>
          <a:xfrm>
            <a:off x="5394960" y="2770632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lahon.in/blog/why-digitalise-your-coaching-business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074920" y="3264408"/>
            <a:ext cx="6473952" cy="1344168"/>
          </a:xfrm>
          <a:prstGeom prst="roundRect">
            <a:avLst>
              <a:gd name="adj" fmla="val 6803"/>
            </a:avLst>
          </a:prstGeom>
          <a:solidFill>
            <a:srgbClr val="F6F7F8"/>
          </a:solidFill>
          <a:ln/>
        </p:spPr>
      </p:sp>
      <p:sp>
        <p:nvSpPr>
          <p:cNvPr id="26" name="Text 18"/>
          <p:cNvSpPr/>
          <p:nvPr/>
        </p:nvSpPr>
        <p:spPr>
          <a:xfrm>
            <a:off x="5394960" y="342900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Coaching Center Management System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5394960" y="3776472"/>
            <a:ext cx="5833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and screen of this platform — website, dashboards, live classes, billing — explained end to end.</a:t>
            </a:r>
            <a:endParaRPr lang="en-US" sz="1050" dirty="0"/>
          </a:p>
        </p:txBody>
      </p:sp>
      <p:sp>
        <p:nvSpPr>
          <p:cNvPr id="28" name="Text 20">
            <a:hlinkClick r:id="rId13" tooltip=""/>
          </p:cNvPr>
          <p:cNvSpPr/>
          <p:nvPr/>
        </p:nvSpPr>
        <p:spPr>
          <a:xfrm>
            <a:off x="5394960" y="4251960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lahon.in/blog/coaching-center-management-system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074920" y="4745736"/>
            <a:ext cx="6473952" cy="1344168"/>
          </a:xfrm>
          <a:prstGeom prst="roundRect">
            <a:avLst>
              <a:gd name="adj" fmla="val 6803"/>
            </a:avLst>
          </a:prstGeom>
          <a:solidFill>
            <a:srgbClr val="F6F7F8"/>
          </a:solidFill>
          <a:ln/>
        </p:spPr>
      </p:sp>
      <p:sp>
        <p:nvSpPr>
          <p:cNvPr id="30" name="Text 22"/>
          <p:cNvSpPr/>
          <p:nvPr/>
        </p:nvSpPr>
        <p:spPr>
          <a:xfrm>
            <a:off x="5394960" y="4910328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Point Gogamukh: The Full Technical Build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5394960" y="5257800"/>
            <a:ext cx="5833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behind it: Next.js, Prisma and PostgreSQL, OTP onboarding, and live classes.</a:t>
            </a:r>
            <a:endParaRPr lang="en-US" sz="1050" dirty="0"/>
          </a:p>
        </p:txBody>
      </p:sp>
      <p:sp>
        <p:nvSpPr>
          <p:cNvPr id="32" name="Text 24">
            <a:hlinkClick r:id="rId14" tooltip=""/>
          </p:cNvPr>
          <p:cNvSpPr/>
          <p:nvPr/>
        </p:nvSpPr>
        <p:spPr>
          <a:xfrm>
            <a:off x="5394960" y="5733288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F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lahon.in/blog/building-success-point-gogamukh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502920"/>
            <a:ext cx="822960" cy="822960"/>
          </a:xfrm>
          <a:prstGeom prst="ellipse">
            <a:avLst/>
          </a:prstGeom>
          <a:solidFill>
            <a:srgbClr val="1F6F6F"/>
          </a:solidFill>
          <a:ln/>
        </p:spPr>
      </p:sp>
      <p:pic>
        <p:nvPicPr>
          <p:cNvPr id="3" name="Image 0" descr="/tmp/claude-0/-home-user/1f2658c4-1c46-56f1-a92d-e272a0c02ab5/scratchpad/pitch-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5536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1732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your platform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920240" y="221284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see if this fits your institute — no obligation, no generic sales pitch, just a straight look at what it'd take to get you live.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46808" y="2971800"/>
            <a:ext cx="7498080" cy="1097280"/>
          </a:xfrm>
          <a:prstGeom prst="roundRect">
            <a:avLst>
              <a:gd name="adj" fmla="val 8333"/>
            </a:avLst>
          </a:prstGeom>
          <a:solidFill>
            <a:srgbClr val="F2C230"/>
          </a:solidFill>
          <a:ln/>
        </p:spPr>
      </p:sp>
      <p:sp>
        <p:nvSpPr>
          <p:cNvPr id="7" name="Text 4"/>
          <p:cNvSpPr/>
          <p:nvPr/>
        </p:nvSpPr>
        <p:spPr>
          <a:xfrm>
            <a:off x="2346808" y="3108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like a live demo?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575408" y="34747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walk you through the working platform end to end on a call — go live in a class, post an announcement, answer a doubt, and see the logs update.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809848" y="420624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A3A4D"/>
          </a:solidFill>
          <a:ln w="12700">
            <a:solidFill>
              <a:srgbClr val="3A4A5D"/>
            </a:solidFill>
            <a:prstDash val="solid"/>
          </a:ln>
        </p:spPr>
      </p:sp>
      <p:pic>
        <p:nvPicPr>
          <p:cNvPr id="10" name="Image 1" descr="/tmp/claude-0/-home-user/1f2658c4-1c46-56f1-a92d-e272a0c02ab5/scratchpad/pitch-deck/icons/phone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4517136"/>
            <a:ext cx="219456" cy="219456"/>
          </a:xfrm>
          <a:prstGeom prst="rect">
            <a:avLst/>
          </a:prstGeom>
        </p:spPr>
      </p:pic>
      <p:sp>
        <p:nvSpPr>
          <p:cNvPr id="11" name="Text 7">
            <a:hlinkClick r:id="rId3" tooltip=""/>
          </p:cNvPr>
          <p:cNvSpPr/>
          <p:nvPr/>
        </p:nvSpPr>
        <p:spPr>
          <a:xfrm>
            <a:off x="4678528" y="4462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+91 60010 98923</a:t>
            </a:r>
            <a:endParaRPr lang="en-US" sz="1500" dirty="0"/>
          </a:p>
        </p:txBody>
      </p:sp>
      <p:pic>
        <p:nvPicPr>
          <p:cNvPr id="12" name="Image 2" descr="/tmp/claude-0/-home-user/1f2658c4-1c46-56f1-a92d-e272a0c02ab5/scratchpad/pitch-deck/icons/mail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768" y="4992624"/>
            <a:ext cx="219456" cy="219456"/>
          </a:xfrm>
          <a:prstGeom prst="rect">
            <a:avLst/>
          </a:prstGeom>
        </p:spPr>
      </p:pic>
      <p:sp>
        <p:nvSpPr>
          <p:cNvPr id="13" name="Text 8">
            <a:hlinkClick r:id="rId5" tooltip=""/>
          </p:cNvPr>
          <p:cNvSpPr/>
          <p:nvPr/>
        </p:nvSpPr>
        <p:spPr>
          <a:xfrm>
            <a:off x="4678528" y="4937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sourav@lahon.in</a:t>
            </a:r>
            <a:endParaRPr lang="en-US" sz="1500" dirty="0"/>
          </a:p>
        </p:txBody>
      </p:sp>
      <p:pic>
        <p:nvPicPr>
          <p:cNvPr id="14" name="Image 3" descr="/tmp/claude-0/-home-user/1f2658c4-1c46-56f1-a92d-e272a0c02ab5/scratchpad/pitch-deck/icons/globe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768" y="5468112"/>
            <a:ext cx="219456" cy="219456"/>
          </a:xfrm>
          <a:prstGeom prst="rect">
            <a:avLst/>
          </a:prstGeom>
        </p:spPr>
      </p:pic>
      <p:sp>
        <p:nvSpPr>
          <p:cNvPr id="15" name="Text 9">
            <a:hlinkClick r:id="rId7" tooltip=""/>
          </p:cNvPr>
          <p:cNvSpPr/>
          <p:nvPr/>
        </p:nvSpPr>
        <p:spPr>
          <a:xfrm>
            <a:off x="4678528" y="54132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lahon.in</a:t>
            </a:r>
            <a:endParaRPr lang="en-US" sz="1500" dirty="0"/>
          </a:p>
        </p:txBody>
      </p:sp>
      <p:sp>
        <p:nvSpPr>
          <p:cNvPr id="16" name="Text 10">
            <a:hlinkClick r:id="rId8" tooltip=""/>
          </p:cNvPr>
          <p:cNvSpPr/>
          <p:nvPr/>
        </p:nvSpPr>
        <p:spPr>
          <a:xfrm>
            <a:off x="6735928" y="449884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·  WhatsApp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14400" y="60807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Point Gogamukh is live proof this works — yours could be next.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2026-08-06T16:01:53Z</dcterms:created>
  <dcterms:modified xsi:type="dcterms:W3CDTF">2026-08-06T16:01:53Z</dcterms:modified>
</cp:coreProperties>
</file>